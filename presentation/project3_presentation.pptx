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6" r:id="rId5"/>
    <p:sldId id="271" r:id="rId6"/>
    <p:sldId id="259" r:id="rId7"/>
    <p:sldId id="267" r:id="rId8"/>
    <p:sldId id="265" r:id="rId9"/>
    <p:sldId id="268" r:id="rId10"/>
    <p:sldId id="260" r:id="rId11"/>
    <p:sldId id="269" r:id="rId12"/>
    <p:sldId id="261" r:id="rId13"/>
    <p:sldId id="262" r:id="rId14"/>
    <p:sldId id="270" r:id="rId15"/>
    <p:sldId id="263" r:id="rId16"/>
    <p:sldId id="264"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0375"/>
  </p:normalViewPr>
  <p:slideViewPr>
    <p:cSldViewPr snapToGrid="0" snapToObjects="1">
      <p:cViewPr>
        <p:scale>
          <a:sx n="148" d="100"/>
          <a:sy n="148" d="100"/>
        </p:scale>
        <p:origin x="792"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220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morning. We're Tal, Ilay, and Ran, third-year Computer Science students. Our project is Project 3: generating a realistic chessboard image from a FEN - a board position - and a viewpoint.</a:t>
            </a:r>
          </a:p>
          <a:p>
            <a:endParaRPr dirty="0"/>
          </a:p>
          <a:p>
            <a:r>
              <a:rPr dirty="0"/>
              <a:t>Why we chose it: image generation is a very modern, trending area that we had barely touched in the course, and it sounded like a real challenge - a chance to learn something new and ambitious.</a:t>
            </a:r>
          </a:p>
          <a:p>
            <a:endParaRPr dirty="0"/>
          </a:p>
          <a:p>
            <a:r>
              <a:rPr dirty="0"/>
              <a:t>On the right are two synthetic renders of the same position, from the white and black viewpoints - that's where we start. By the end you'll see how we turn renders like these into photorealistic boards.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task, briefly - and I'll keep this short, since several groups are doing the same project.</a:t>
            </a:r>
          </a:p>
          <a:p>
            <a:endParaRPr/>
          </a:p>
          <a:p>
            <a:r>
              <a:t>The input is a FEN, which encodes the position, plus a viewpoint - white or black, meaning which colour sits closest to the camera. The output is three images saved to a results folder: a synthetic render, a realistic image, and a side-by-side.</a:t>
            </a:r>
          </a:p>
          <a:p>
            <a:endParaRPr/>
          </a:p>
          <a:p>
            <a:r>
              <a:t>The hard part - the whole challenge - is preserving the EXACT board state. It's not enough to look realistic: a pawn must not appear on an empty square, and a rook must not turn into a bishop. The position has to stay perfectly correct. On the right is the same FEN from the two viewpoints. Everything else in this talk is about making it realistic WITHOUT ever breaking that exact state.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 system at a glance, and it's all the evaluation function needs. The inputs are just a FEN and a viewpoint.</a:t>
            </a:r>
          </a:p>
          <a:p>
            <a:endParaRPr/>
          </a:p>
          <a:p>
            <a:r>
              <a:t>Stage one: Blender renders a clean synthetic board, plus a semantic map and a depth map. Stage two: our paired pix2pixHD generator turns that into a realistic image. We save the synthetic image, the realistic image, and a side-by-side comparison.</a:t>
            </a:r>
          </a:p>
          <a:p>
            <a:endParaRPr/>
          </a:p>
          <a:p>
            <a:r>
              <a:t>The key point is in the box: because training is PAIRED - against the exact matching real photo - the model is directly penalized if it moves a piece or invents texture on an empty square. That's why we did not use an unpaired method like CycleGAN.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what 'condition on geometry' actually means. From a single FEN, Blender renders the same board three different ways, all perfectly aligned.</a:t>
            </a:r>
          </a:p>
          <a:p>
            <a:endParaRPr/>
          </a:p>
          <a:p>
            <a:r>
              <a:t>One, RGB - the normal synthetic picture; this is the starting point the model transforms into a realistic photo.</a:t>
            </a:r>
          </a:p>
          <a:p>
            <a:endParaRPr/>
          </a:p>
          <a:p>
            <a:r>
              <a:t>Two, semantic silhouette - the same board, but every piece type painted a unique flat colour. This tells the model exactly which piece is on which square and its precise outline, so it can't turn a rook into a bishop or move a piece.</a:t>
            </a:r>
          </a:p>
          <a:p>
            <a:endParaRPr/>
          </a:p>
          <a:p>
            <a:r>
              <a:t>Three, depth - a grayscale map where brightness means distance from the camera. It carries 3-D information - how tall each piece is - that a flat colour image can't.</a:t>
            </a:r>
          </a:p>
          <a:p>
            <a:endParaRPr/>
          </a:p>
          <a:p>
            <a:r>
              <a:t>All three come from the FEN alone, with no real photo. So the same inputs exist during training and at inference.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Earlier we said the model gets a 21-channel input. Let me make that concrete - what does ONE pixel actually look like to the model?</a:t>
            </a:r>
          </a:p>
          <a:p>
            <a:endParaRPr/>
          </a:p>
          <a:p>
            <a:r>
              <a:t>Take a single pixel, say on a white knight. The model reads 21 numbers there, in three groups.</a:t>
            </a:r>
          </a:p>
          <a:p>
            <a:endParaRPr/>
          </a:p>
          <a:p>
            <a:r>
              <a:t>The first three are RGB - the colour of that pixel in the synthetic render; here a wood-tan colour.</a:t>
            </a:r>
          </a:p>
          <a:p>
            <a:endParaRPr/>
          </a:p>
          <a:p>
            <a:r>
              <a:t>The next fifteen are the semantic one-hot. There's one channel per class - empty-light, empty-dark, and the twelve piece types. Exactly one is a 1 and the rest are 0. Here the 'white knight' channel is 1 - that's how the model knows, with no ambiguity, that this pixel belongs to a white knight.</a:t>
            </a:r>
          </a:p>
          <a:p>
            <a:endParaRPr/>
          </a:p>
          <a:p>
            <a:r>
              <a:t>The last three are geometry: depth - how far the pixel is from the camera; silhouette - whether it's part of a piece, here 1; and edge - whether it's on a piece's outline, here 0 because it's inside the piece.</a:t>
            </a:r>
          </a:p>
          <a:p>
            <a:endParaRPr/>
          </a:p>
          <a:p>
            <a:r>
              <a:t>So 3 plus 15 plus 3 is 21 numbers for this one pixel. Stack that across all 512 by 512 pixels and you get the full 21-channel input - that stack is what the generator actually sees.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what makes our approach special. Instead of feeding the generator only the RGB render, we stack three kinds of information into a single 21-channel input.</a:t>
            </a:r>
          </a:p>
          <a:p>
            <a:endParaRPr dirty="0"/>
          </a:p>
          <a:p>
            <a:r>
              <a:rPr dirty="0"/>
              <a:t>Three channels are the RGB render. Fifteen channels are a one-hot semantic map - one channel per class, empty plus the twelve piece types - so the model knows exactly what belongs on each square. Three channels are geometry: depth, the piece silhouette, and its edge.</a:t>
            </a:r>
          </a:p>
          <a:p>
            <a:endParaRPr dirty="0"/>
          </a:p>
          <a:p>
            <a:r>
              <a:rPr dirty="0"/>
              <a:t>All of it is derived from the FEN at inference - no real photo needed. The takeaway: semantic plus geometry tell the generator both WHAT should be on each square and the true 3-D silhouette of every piece. That's how we keep the exact position while still looking realistic.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our direct answer to 'what makes you different.' Most other approaches tackled this project with CycleGAN, CUT, or diffusion models. Those are either unpaired translation or free generative models: they're good at producing a realistic-looking board, but none has a built-in guarantee that the exact position is preserved.</a:t>
            </a:r>
          </a:p>
          <a:p>
            <a:endParaRPr/>
          </a:p>
          <a:p>
            <a:r>
              <a:t>Our approach differs in two fundamental ways. It is PAIRED, so there is a direct penalty whenever the board changes. And it is GEOMETRY-CONDITIONED: we don't just hand the model an RGB image, we hand it the exact piece layout and the 3-D geometry.</a:t>
            </a:r>
          </a:p>
          <a:p>
            <a:endParaRPr/>
          </a:p>
          <a:p>
            <a:r>
              <a:t>From that core decision, four chess-specific ingredients follow, and the next slides go through them: camera-aligned renders so the synthetic geometry matches the real photos; silhouette plus geometry conditioning so the model knows what's on each square; a per-piece discriminator that grades each piece individually; and edge plus contextual losses that keep pieces crisp without forcing blur.</a:t>
            </a:r>
          </a:p>
          <a:p>
            <a:endParaRPr/>
          </a:p>
          <a:p>
            <a:r>
              <a:t>The headline: other approaches asked 'can we make it look real?' We asked 'can we make it look real WITHOUT ever changing the position?' - and every design choice serves that.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PIX2PIX - THE BASICS</a:t>
            </a:r>
          </a:p>
          <a:p>
            <a:r>
              <a:rPr dirty="0"/>
              <a:t>pix2pix is a conditional GAN for paired image-to-image translation. It has two networks that learn against each other.</a:t>
            </a:r>
          </a:p>
          <a:p>
            <a:r>
              <a:rPr dirty="0"/>
              <a:t>The generator G is an encoder-decoder: it takes our input image and produces the translated output. The encoder compresses the input into a compact representation, then the decoder expands it back into a full image.</a:t>
            </a:r>
          </a:p>
          <a:p>
            <a:r>
              <a:rPr dirty="0"/>
              <a:t>The discriminator D is a '</a:t>
            </a:r>
            <a:r>
              <a:rPr dirty="0" err="1"/>
              <a:t>PatchGAN</a:t>
            </a:r>
            <a:r>
              <a:rPr dirty="0"/>
              <a:t>': instead of one real-or-fake score for the whole image, it outputs a grid of scores, each judging a small local patch. This makes it focus on whether local texture looks real. It is also CONDITIONAL - D sees the input and the output together, so it checks two things at once: does the output look like a real photo, AND does it actually correspond to this particular input.</a:t>
            </a:r>
          </a:p>
          <a:p>
            <a:endParaRPr dirty="0"/>
          </a:p>
          <a:p>
            <a:r>
              <a:rPr dirty="0"/>
              <a:t>HOW G AND D WORK TOGETHER</a:t>
            </a:r>
          </a:p>
          <a:p>
            <a:r>
              <a:rPr dirty="0"/>
              <a:t>Training is a back-and-forth game. D is trained to label the real (input, target) pairs as real and the generator's (input, output) pairs as fake. G is trained to do two things at once: fool D, and stay close to the true target through an L1 reconstruction loss. The L1 term anchors the output to the correct answer; the adversarial term makes it sharp and realistic - an L1-only model produces blurry averages. As training proceeds, G gets better at fooling D and D gets better at catching G, until G's outputs are both realistic and consistent with the input.</a:t>
            </a:r>
          </a:p>
          <a:p>
            <a:endParaRPr dirty="0"/>
          </a:p>
          <a:p>
            <a:r>
              <a:rPr dirty="0"/>
              <a:t>PIX2PIXHD - TWO KEY UPGRADES</a:t>
            </a:r>
          </a:p>
          <a:p>
            <a:r>
              <a:rPr dirty="0"/>
              <a:t>pix2pixHD keeps this setup but scales it to higher resolution with two additions.</a:t>
            </a:r>
          </a:p>
          <a:p>
            <a:r>
              <a:rPr dirty="0"/>
              <a:t>1) Multi-scale discriminator. Instead of one discriminator, it uses two (or three) identical discriminators that look at the image at different sizes - the full-resolution image and a </a:t>
            </a:r>
            <a:r>
              <a:rPr dirty="0" err="1"/>
              <a:t>downsampled</a:t>
            </a:r>
            <a:r>
              <a:rPr dirty="0"/>
              <a:t> copy. The full-resolution one polices fine detail and texture; the </a:t>
            </a:r>
            <a:r>
              <a:rPr dirty="0" err="1"/>
              <a:t>downsampled</a:t>
            </a:r>
            <a:r>
              <a:rPr dirty="0"/>
              <a:t> one sees more of the board at once, so it polices large-scale structure and global consistency. A single discriminator cannot do both well at high resolution.</a:t>
            </a:r>
          </a:p>
          <a:p>
            <a:r>
              <a:rPr dirty="0"/>
              <a:t>2) Feature-matching loss. We pass the real image and the generated image through the discriminator and compare their internal feature maps at several layers, pushing them to match. This is a much more stable and informative signal than the single real/fake verdict: it tells the generator to reproduce the statistics of real images inside the discriminator's feature space. It stabilizes training and clearly improves quality.</a:t>
            </a:r>
          </a:p>
          <a:p>
            <a:endParaRPr dirty="0"/>
          </a:p>
          <a:p>
            <a:r>
              <a:rPr dirty="0"/>
              <a:t>WHY NOT CYCLEGAN OR CUT (the unpaired alternatives)</a:t>
            </a:r>
          </a:p>
          <a:p>
            <a:r>
              <a:rPr dirty="0"/>
              <a:t>Both are UNPAIRED - they translate between two unmatched piles of images, a synthetic pile and a real pile, with no one-to-one correspondence.</a:t>
            </a:r>
          </a:p>
          <a:p>
            <a:r>
              <a:rPr dirty="0"/>
              <a:t>CycleGAN uses TWO generators (synthetic-&gt;real and real-&gt;synthetic) and a cycle-consistency loss: if you translate a synthetic image to real and back again, you should recover the original. That round-trip constraint is what loosely preserves content without pairs.</a:t>
            </a:r>
          </a:p>
          <a:p>
            <a:r>
              <a:rPr dirty="0"/>
              <a:t>CUT is a newer, lighter method: ONE generator, and instead of the cycle it uses a </a:t>
            </a:r>
            <a:r>
              <a:rPr dirty="0" err="1"/>
              <a:t>patchwise</a:t>
            </a:r>
            <a:r>
              <a:rPr dirty="0"/>
              <a:t> contrastive loss - a patch in the output should match the corresponding patch in the input in feature space, and differ from unrelated patches. It is faster and usually better than CycleGAN.</a:t>
            </a:r>
          </a:p>
          <a:p>
            <a:r>
              <a:rPr dirty="0"/>
              <a:t>The problem for us is the same in both: there is no matched target photo, so neither one has a direct penalty that says 'this exact square must contain this exact piece.' They only enforce domain style plus a soft content proxy - the cycle, or the contrastive term. For chess that is not enough: when we tried unpaired translation, pieces drifted to other squares and texture appeared on empty squares. Paired pix2pixHD gives a direct, pixel-level penalty for exactly those mistakes - which is why we chose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A normal GAN has one discriminator that looks at the whole image and asks 'does this look real?' That rewards average realism - and the failure mode is that small pieces blur into vaguely-correct blobs that still pass.</a:t>
            </a:r>
          </a:p>
          <a:p>
            <a:endParaRPr dirty="0"/>
          </a:p>
          <a:p>
            <a:r>
              <a:rPr dirty="0"/>
              <a:t>We use two discriminators. The first is the standard board discriminator, but multi-scale: it judges the image at two zoom levels, catching both fine texture and large-scale structure.</a:t>
            </a:r>
          </a:p>
          <a:p>
            <a:endParaRPr dirty="0"/>
          </a:p>
          <a:p>
            <a:r>
              <a:rPr dirty="0"/>
              <a:t>The second is the special one - a per-piece discriminator. It crops out each occupied square and judges that piece on its own, and it is class-conditional: it's told which piece type should be there and checks whether the crop actually looks like that type. That puts pressure exactly where the problem is - the individual pieces - instead of letting them hide inside a globally-realistic board.</a:t>
            </a:r>
          </a:p>
          <a:p>
            <a:endParaRPr dirty="0"/>
          </a:p>
          <a:p>
            <a:r>
              <a:rPr dirty="0"/>
              <a:t>On top of the discriminators, two targeted losses help. A silhouette-edge loss keeps the outline of each piece crisp. A contextual loss compares deep features in a shift-tolerant way, so small 3-D misalignment between synthetic and real piece heads doesn't force the model to blur; we also down-weight the pixel loss on piece regions for the same reason.</a:t>
            </a:r>
          </a:p>
          <a:p>
            <a:endParaRPr dirty="0"/>
          </a:p>
          <a:p>
            <a:r>
              <a:rPr dirty="0"/>
              <a:t>Together: instead of one judge of overall realism, we have layered, piece-aware, geometry-aware pressure.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was our single biggest practical lever - bigger than any loss-function tweak.</a:t>
            </a:r>
          </a:p>
          <a:p>
            <a:endParaRPr/>
          </a:p>
          <a:p>
            <a:r>
              <a:t>The real photos were taken at a fairly oblique angle. Our first synthetic dataset used a near-top-down camera, about 55 degrees elevation. That mismatch meant the synthetic pieces simply didn't project the way the real ones did - the model was fighting a geometry gap before it even started on style.</a:t>
            </a:r>
          </a:p>
          <a:p>
            <a:endParaRPr/>
          </a:p>
          <a:p>
            <a:r>
              <a:t>When we re-rendered the synthetic boards with the camera angle matched to each real game - around 40 degrees on average, 38 to 44 across games - the synthetic and real boards lined up, and quality jumped.</a:t>
            </a:r>
          </a:p>
          <a:p>
            <a:endParaRPr/>
          </a:p>
          <a:p>
            <a:r>
              <a:t>The lesson worth sharing: in synthetic-to-real, getting the camera geometry right can matter more than any clever loss. We spent a lot of effort on losses; aligning the camera beat all of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payoff - here is what the model actually produces. On the left is the synthetic input: a flat, grey Blender render. In the middle is our model's output. On the right is the real photograph of that same position.</a:t>
            </a:r>
          </a:p>
          <a:p>
            <a:endParaRPr/>
          </a:p>
          <a:p>
            <a:r>
              <a:t>Notice two things. First, realism: the middle image has the wooden board, the lighting, the look of a real photo - clearly much closer to the right than to the left. Second, and more important for this task: the pieces are in exactly the same squares as the input and the real photo.</a:t>
            </a:r>
          </a:p>
          <a:p>
            <a:endParaRPr/>
          </a:p>
          <a:p>
            <a:r>
              <a:t>We didn't just make something that looks real - we made something that looks real AND preserves the exact position. That is the whole goal of the project, in one picture.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numbers, measured on 140 held-out boards from game 2 - a game the model never saw in training. These come from an independent classifier we trained on real photos, so it's an objective judge, not the model grading itself.</a:t>
            </a:r>
          </a:p>
          <a:p>
            <a:endParaRPr/>
          </a:p>
          <a:p>
            <a:r>
              <a:t>Occupancy accuracy 0.99 - it almost never puts a piece on an empty square or drops one. Square accuracy 0.92 - the full piece-and-colour identity of each square. Piece-type accuracy 0.80 - the hardest one, the exact piece type.</a:t>
            </a:r>
          </a:p>
          <a:p>
            <a:endParaRPr/>
          </a:p>
          <a:p>
            <a:r>
              <a:t>The key insight is the line at the bottom: we did NOT pick the final model by the highest number. A merged blob can still be classified correctly, so a high score doesn't guarantee it looks good. We chose the final model on visual quality too - visual grids plus specific audits for halos and double-headed pieces. Numbers and eyes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why we don't trust metrics alone, and how we justified each component - the required ablation.</a:t>
            </a:r>
          </a:p>
          <a:p>
            <a:endParaRPr/>
          </a:p>
          <a:p>
            <a:r>
              <a:t>Look at the middle panel: that is 'geometry-lock,' a version where we forced the output to follow the synthetic geometry exactly. It actually removes double-headed pieces - but you can see the cost: the pieces go washed-out and milky, like ghosts. It looks worse even though it fixed a specific defect, and its whole-board score collapsed to zero.</a:t>
            </a:r>
          </a:p>
          <a:p>
            <a:endParaRPr/>
          </a:p>
          <a:p>
            <a:r>
              <a:t>Parallax8, another variant, scored 0.45 - clearly worse than our final 0.76.</a:t>
            </a:r>
          </a:p>
          <a:p>
            <a:endParaRPr/>
          </a:p>
          <a:p>
            <a:r>
              <a:t>The insight: forcing exact geometry can remove one defect but destroys the photo-like style. There is a real tension between clean piece shape and realistic appearance. So we kept each component only if it was both beneficial AND necessary - and we picked the variant with the best overall balance, not the best single number.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 wrap up the results, here are the four things this project actually taught us - the insights, not just the numbers.</a:t>
            </a:r>
          </a:p>
          <a:p>
            <a:endParaRPr/>
          </a:p>
          <a:p>
            <a:r>
              <a:t>First, and most surprising: camera geometry beat every loss. We spent a lot of time tuning loss functions, but the single biggest jump in quality came from simply matching the synthetic camera angle to the real photos. In synthetic-to-real work, getting the geometry right can matter more than any clever objective.</a:t>
            </a:r>
          </a:p>
          <a:p>
            <a:endParaRPr/>
          </a:p>
          <a:p>
            <a:r>
              <a:t>Second: a high score is not the same as a good image. Our independent classifier would happily label a blurry, merged blob as the correct piece. So we learned not to trust a single metric - we judged the final model by eye too, with audits for specific artifacts.</a:t>
            </a:r>
          </a:p>
          <a:p>
            <a:endParaRPr/>
          </a:p>
          <a:p>
            <a:r>
              <a:t>Third, the honest research insight: clean piece shape and realistic style are in tension. Every time we forced the geometry to be exact, the pieces looked washed-out; every time we prioritized realism, some shape errors crept back. Under our current data that trade-off is a ceiling, not something one more loss term removes.</a:t>
            </a:r>
          </a:p>
          <a:p>
            <a:endParaRPr/>
          </a:p>
          <a:p>
            <a:r>
              <a:t>Fourth, the modeling lesson: exact state preservation needs the right framing. Treating the task as paired, conditioned translation - rather than free generation like CycleGAN, CUT, or diffusion - is what let us keep the position exact. The framing mattered more than the specific network.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spirit of honest research, here is what did NOT work - the experiments we tried and dropped - plus the core limitation that remains.</a:t>
            </a:r>
          </a:p>
          <a:p>
            <a:endParaRPr/>
          </a:p>
          <a:p>
            <a:r>
              <a:t>On the left, four dead ends. Unpaired CUT and CycleGAN look fine but won't preserve the exact state - that's why we moved to paired training. A naive parallax stretch of the synthetic pieces actually made things worse: exactness dropped from 0.76 to 0.45. A hard geometry-lock removed some artifacts but left pieces looking milky and transparent. And automatic piece masks from SAM failed at our tiny 40-to-60-pixel piece scale.</a:t>
            </a:r>
          </a:p>
          <a:p>
            <a:endParaRPr/>
          </a:p>
          <a:p>
            <a:r>
              <a:t>On the right, the main limitation, and it's fundamental. Our real targets are photos of a 3-D scene that we flatten with a homography. That flattening aligns the board PLANE, but not the raised heads of the pieces - so the synthetic and real shapes are slightly incompatible. The model is being asked to match two shapes that don't quite line up, which is where the residual blob-like pawns come from.</a:t>
            </a:r>
          </a:p>
          <a:p>
            <a:endParaRPr/>
          </a:p>
          <a:p>
            <a:r>
              <a:t>Note how this differs from the previous slide: that one was the lessons we take away; this one is the concrete experiments that failed, and the honest limitation we'd fix with better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wrap up. Our system is a paired pix2pixHD generator conditioned on the FEN plus silhouette, depth, and edge information. The model we ship, bright_silABC, gives the best balance we found between looking realistic and preserving the exact position.</a:t>
            </a:r>
          </a:p>
          <a:p>
            <a:endParaRPr/>
          </a:p>
          <a:p>
            <a:r>
              <a:t>And we end on an honest note: under low-resolution, automatically-supervised data, clean piece shape and photographic style are in a persistent trade-off - you can push one, but it costs the other. Breaking that ceiling would need better data, not just more loss tuning.</a:t>
            </a:r>
          </a:p>
          <a:p>
            <a:endParaRPr/>
          </a:p>
          <a:p>
            <a:r>
              <a:t>Thank you -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01C"/>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640080"/>
            <a:ext cx="5486400" cy="274320"/>
          </a:xfrm>
          <a:prstGeom prst="rect">
            <a:avLst/>
          </a:prstGeom>
          <a:noFill/>
          <a:ln/>
        </p:spPr>
        <p:txBody>
          <a:bodyPr wrap="square" lIns="0" tIns="0" rIns="0" bIns="0" rtlCol="0" anchor="ctr"/>
          <a:lstStyle/>
          <a:p>
            <a:pPr marL="0" indent="0">
              <a:buNone/>
            </a:pPr>
            <a:r>
              <a:rPr lang="en-US" sz="1200" b="1" kern="0" spc="200" dirty="0">
                <a:solidFill>
                  <a:srgbClr val="C2873B"/>
                </a:solidFill>
                <a:latin typeface="Calibri" pitchFamily="34" charset="0"/>
                <a:ea typeface="Calibri" pitchFamily="34" charset="-122"/>
                <a:cs typeface="Calibri" pitchFamily="34" charset="-120"/>
              </a:rPr>
              <a:t>PROJECT 3 · INTRO TO DEEP LEARNING · BGU</a:t>
            </a:r>
            <a:endParaRPr lang="en-US" sz="1200" dirty="0"/>
          </a:p>
        </p:txBody>
      </p:sp>
      <p:sp>
        <p:nvSpPr>
          <p:cNvPr id="4" name="Text 2"/>
          <p:cNvSpPr/>
          <p:nvPr/>
        </p:nvSpPr>
        <p:spPr>
          <a:xfrm>
            <a:off x="548640" y="1143000"/>
            <a:ext cx="5212080" cy="2103120"/>
          </a:xfrm>
          <a:prstGeom prst="rect">
            <a:avLst/>
          </a:prstGeom>
          <a:noFill/>
          <a:ln/>
        </p:spPr>
        <p:txBody>
          <a:bodyPr wrap="square" lIns="0" tIns="0" rIns="0" bIns="0" rtlCol="0" anchor="ctr"/>
          <a:lstStyle/>
          <a:p>
            <a:pPr marL="0" indent="0">
              <a:lnSpc>
                <a:spcPct val="102000"/>
              </a:lnSpc>
              <a:buNone/>
            </a:pPr>
            <a:r>
              <a:rPr lang="en-US" sz="3300" b="1" dirty="0">
                <a:solidFill>
                  <a:srgbClr val="F4EFE6"/>
                </a:solidFill>
                <a:latin typeface="Georgia" pitchFamily="34" charset="0"/>
                <a:ea typeface="Georgia" pitchFamily="34" charset="-122"/>
                <a:cs typeface="Georgia" pitchFamily="34" charset="-120"/>
              </a:rPr>
              <a:t>Synthetic-to-Real</a:t>
            </a:r>
            <a:endParaRPr lang="en-US" sz="3300" dirty="0"/>
          </a:p>
          <a:p>
            <a:pPr marL="0" indent="0">
              <a:lnSpc>
                <a:spcPct val="102000"/>
              </a:lnSpc>
              <a:buNone/>
            </a:pPr>
            <a:r>
              <a:rPr lang="en-US" sz="3300" b="1" dirty="0">
                <a:solidFill>
                  <a:srgbClr val="F4EFE6"/>
                </a:solidFill>
                <a:latin typeface="Georgia" pitchFamily="34" charset="0"/>
                <a:ea typeface="Georgia" pitchFamily="34" charset="-122"/>
                <a:cs typeface="Georgia" pitchFamily="34" charset="-120"/>
              </a:rPr>
              <a:t>Chessboard Generation</a:t>
            </a:r>
            <a:endParaRPr lang="en-US" sz="3300" dirty="0"/>
          </a:p>
          <a:p>
            <a:pPr marL="0" indent="0">
              <a:lnSpc>
                <a:spcPct val="102000"/>
              </a:lnSpc>
              <a:buNone/>
            </a:pPr>
            <a:r>
              <a:rPr lang="en-US" sz="3300" b="1" dirty="0">
                <a:solidFill>
                  <a:srgbClr val="F4EFE6"/>
                </a:solidFill>
                <a:latin typeface="Georgia" pitchFamily="34" charset="0"/>
                <a:ea typeface="Georgia" pitchFamily="34" charset="-122"/>
                <a:cs typeface="Georgia" pitchFamily="34" charset="-120"/>
              </a:rPr>
              <a:t>from FEN</a:t>
            </a:r>
            <a:endParaRPr lang="en-US" sz="3300" dirty="0"/>
          </a:p>
        </p:txBody>
      </p:sp>
      <p:sp>
        <p:nvSpPr>
          <p:cNvPr id="5" name="Text 3"/>
          <p:cNvSpPr/>
          <p:nvPr/>
        </p:nvSpPr>
        <p:spPr>
          <a:xfrm>
            <a:off x="566928" y="3611880"/>
            <a:ext cx="5212080" cy="320040"/>
          </a:xfrm>
          <a:prstGeom prst="rect">
            <a:avLst/>
          </a:prstGeom>
          <a:noFill/>
          <a:ln/>
        </p:spPr>
        <p:txBody>
          <a:bodyPr wrap="square" lIns="0" tIns="0" rIns="0" bIns="0" rtlCol="0" anchor="ctr"/>
          <a:lstStyle/>
          <a:p>
            <a:pPr marL="0" indent="0">
              <a:buNone/>
            </a:pPr>
            <a:r>
              <a:rPr lang="en-US" sz="1500" dirty="0">
                <a:solidFill>
                  <a:srgbClr val="F4EFE6"/>
                </a:solidFill>
                <a:latin typeface="Calibri" pitchFamily="34" charset="0"/>
                <a:ea typeface="Calibri" pitchFamily="34" charset="-122"/>
                <a:cs typeface="Calibri" pitchFamily="34" charset="-120"/>
              </a:rPr>
              <a:t>Tal Podgor  ·  Ilay Vanunu  ·  Ran Packler</a:t>
            </a:r>
            <a:endParaRPr lang="en-US" sz="1500" dirty="0"/>
          </a:p>
        </p:txBody>
      </p:sp>
      <p:sp>
        <p:nvSpPr>
          <p:cNvPr id="6" name="Text 4"/>
          <p:cNvSpPr/>
          <p:nvPr/>
        </p:nvSpPr>
        <p:spPr>
          <a:xfrm>
            <a:off x="566928" y="3986784"/>
            <a:ext cx="5212080" cy="274320"/>
          </a:xfrm>
          <a:prstGeom prst="rect">
            <a:avLst/>
          </a:prstGeom>
          <a:noFill/>
          <a:ln/>
        </p:spPr>
        <p:txBody>
          <a:bodyPr wrap="square" lIns="0" tIns="0" rIns="0" bIns="0" rtlCol="0" anchor="ctr"/>
          <a:lstStyle/>
          <a:p>
            <a:pPr marL="0" indent="0">
              <a:buNone/>
            </a:pPr>
            <a:r>
              <a:rPr lang="en-US" sz="1200" i="1" dirty="0">
                <a:solidFill>
                  <a:srgbClr val="8A7E6E"/>
                </a:solidFill>
                <a:latin typeface="Calibri" pitchFamily="34" charset="0"/>
                <a:ea typeface="Calibri" pitchFamily="34" charset="-122"/>
                <a:cs typeface="Calibri" pitchFamily="34" charset="-120"/>
              </a:rPr>
              <a:t>B.Sc. Computer Science</a:t>
            </a:r>
            <a:endParaRPr lang="en-US" sz="1200" dirty="0"/>
          </a:p>
        </p:txBody>
      </p:sp>
      <p:sp>
        <p:nvSpPr>
          <p:cNvPr id="7" name="Shape 5"/>
          <p:cNvSpPr/>
          <p:nvPr/>
        </p:nvSpPr>
        <p:spPr>
          <a:xfrm>
            <a:off x="6126480" y="1188720"/>
            <a:ext cx="1463040" cy="1463040"/>
          </a:xfrm>
          <a:prstGeom prst="rect">
            <a:avLst/>
          </a:prstGeom>
          <a:solidFill>
            <a:srgbClr val="FFFFFF"/>
          </a:solidFill>
          <a:ln w="19050">
            <a:solidFill>
              <a:srgbClr val="C2873B"/>
            </a:solidFill>
            <a:prstDash val="solid"/>
          </a:ln>
          <a:effectLst>
            <a:outerShdw blurRad="88900" dist="38100" dir="8100000" algn="bl" rotWithShape="0">
              <a:srgbClr val="000000">
                <a:alpha val="16000"/>
              </a:srgbClr>
            </a:outerShdw>
          </a:effectLst>
        </p:spPr>
        <p:txBody>
          <a:bodyPr/>
          <a:lstStyle/>
          <a:p>
            <a:endParaRPr lang="en-IL"/>
          </a:p>
        </p:txBody>
      </p:sp>
      <p:pic>
        <p:nvPicPr>
          <p:cNvPr id="8" name="Image 0" descr="/Users/rnpqlr/Desktop/empty/dl project/submission/sample_outputs/synthetic_white_view.png"/>
          <p:cNvPicPr>
            <a:picLocks noChangeAspect="1"/>
          </p:cNvPicPr>
          <p:nvPr/>
        </p:nvPicPr>
        <p:blipFill>
          <a:blip r:embed="rId3"/>
          <a:stretch>
            <a:fillRect/>
          </a:stretch>
        </p:blipFill>
        <p:spPr>
          <a:xfrm>
            <a:off x="6172200" y="1234440"/>
            <a:ext cx="1371600" cy="1371600"/>
          </a:xfrm>
          <a:prstGeom prst="rect">
            <a:avLst/>
          </a:prstGeom>
        </p:spPr>
      </p:pic>
      <p:sp>
        <p:nvSpPr>
          <p:cNvPr id="9" name="Text 6"/>
          <p:cNvSpPr/>
          <p:nvPr/>
        </p:nvSpPr>
        <p:spPr>
          <a:xfrm>
            <a:off x="6126480" y="2642616"/>
            <a:ext cx="1463040" cy="256032"/>
          </a:xfrm>
          <a:prstGeom prst="rect">
            <a:avLst/>
          </a:prstGeom>
          <a:noFill/>
          <a:ln/>
        </p:spPr>
        <p:txBody>
          <a:bodyPr wrap="square" lIns="0" tIns="0" rIns="0" bIns="0" rtlCol="0" anchor="ctr"/>
          <a:lstStyle/>
          <a:p>
            <a:pPr marL="0" indent="0" algn="ctr">
              <a:buNone/>
            </a:pPr>
            <a:r>
              <a:rPr lang="en-US" sz="1100" i="1" dirty="0">
                <a:solidFill>
                  <a:srgbClr val="8A7E6E"/>
                </a:solidFill>
                <a:latin typeface="Calibri" pitchFamily="34" charset="0"/>
                <a:ea typeface="Calibri" pitchFamily="34" charset="-122"/>
                <a:cs typeface="Calibri" pitchFamily="34" charset="-120"/>
              </a:rPr>
              <a:t>viewpoint = white</a:t>
            </a:r>
            <a:endParaRPr lang="en-US" sz="1100" dirty="0"/>
          </a:p>
        </p:txBody>
      </p:sp>
      <p:sp>
        <p:nvSpPr>
          <p:cNvPr id="10" name="Shape 7"/>
          <p:cNvSpPr/>
          <p:nvPr/>
        </p:nvSpPr>
        <p:spPr>
          <a:xfrm>
            <a:off x="7589520" y="1188720"/>
            <a:ext cx="1463040" cy="1463040"/>
          </a:xfrm>
          <a:prstGeom prst="rect">
            <a:avLst/>
          </a:prstGeom>
          <a:solidFill>
            <a:srgbClr val="FFFFFF"/>
          </a:solidFill>
          <a:ln w="19050">
            <a:solidFill>
              <a:srgbClr val="C2873B"/>
            </a:solidFill>
            <a:prstDash val="solid"/>
          </a:ln>
          <a:effectLst>
            <a:outerShdw blurRad="88900" dist="38100" dir="8100000" algn="bl" rotWithShape="0">
              <a:srgbClr val="000000">
                <a:alpha val="16000"/>
              </a:srgbClr>
            </a:outerShdw>
          </a:effectLst>
        </p:spPr>
        <p:txBody>
          <a:bodyPr/>
          <a:lstStyle/>
          <a:p>
            <a:endParaRPr lang="en-IL"/>
          </a:p>
        </p:txBody>
      </p:sp>
      <p:pic>
        <p:nvPicPr>
          <p:cNvPr id="11" name="Image 1" descr="/Users/rnpqlr/Desktop/empty/dl project/submission/sample_outputs/synthetic_black_view.png"/>
          <p:cNvPicPr>
            <a:picLocks noChangeAspect="1"/>
          </p:cNvPicPr>
          <p:nvPr/>
        </p:nvPicPr>
        <p:blipFill>
          <a:blip r:embed="rId4"/>
          <a:stretch>
            <a:fillRect/>
          </a:stretch>
        </p:blipFill>
        <p:spPr>
          <a:xfrm>
            <a:off x="7635240" y="1234440"/>
            <a:ext cx="1371600" cy="1371600"/>
          </a:xfrm>
          <a:prstGeom prst="rect">
            <a:avLst/>
          </a:prstGeom>
        </p:spPr>
      </p:pic>
      <p:sp>
        <p:nvSpPr>
          <p:cNvPr id="12" name="Text 8"/>
          <p:cNvSpPr/>
          <p:nvPr/>
        </p:nvSpPr>
        <p:spPr>
          <a:xfrm>
            <a:off x="7589520" y="2642616"/>
            <a:ext cx="1463040" cy="256032"/>
          </a:xfrm>
          <a:prstGeom prst="rect">
            <a:avLst/>
          </a:prstGeom>
          <a:noFill/>
          <a:ln/>
        </p:spPr>
        <p:txBody>
          <a:bodyPr wrap="square" lIns="0" tIns="0" rIns="0" bIns="0" rtlCol="0" anchor="ctr"/>
          <a:lstStyle/>
          <a:p>
            <a:pPr marL="0" indent="0" algn="ctr">
              <a:buNone/>
            </a:pPr>
            <a:r>
              <a:rPr lang="en-US" sz="1100" i="1" dirty="0">
                <a:solidFill>
                  <a:srgbClr val="8A7E6E"/>
                </a:solidFill>
                <a:latin typeface="Calibri" pitchFamily="34" charset="0"/>
                <a:ea typeface="Calibri" pitchFamily="34" charset="-122"/>
                <a:cs typeface="Calibri" pitchFamily="34" charset="-120"/>
              </a:rPr>
              <a:t>viewpoint = black</a:t>
            </a:r>
            <a:endParaRPr lang="en-US" sz="1100" dirty="0"/>
          </a:p>
        </p:txBody>
      </p:sp>
      <p:sp>
        <p:nvSpPr>
          <p:cNvPr id="13" name="Text 9"/>
          <p:cNvSpPr/>
          <p:nvPr/>
        </p:nvSpPr>
        <p:spPr>
          <a:xfrm>
            <a:off x="6035040" y="3063240"/>
            <a:ext cx="3017520" cy="274320"/>
          </a:xfrm>
          <a:prstGeom prst="rect">
            <a:avLst/>
          </a:prstGeom>
          <a:noFill/>
          <a:ln/>
        </p:spPr>
        <p:txBody>
          <a:bodyPr wrap="square" lIns="0" tIns="0" rIns="0" bIns="0" rtlCol="0" anchor="ctr"/>
          <a:lstStyle/>
          <a:p>
            <a:pPr marL="0" indent="0" algn="ctr">
              <a:buNone/>
            </a:pPr>
            <a:r>
              <a:rPr lang="en-US" sz="1100" dirty="0">
                <a:solidFill>
                  <a:srgbClr val="8A7E6E"/>
                </a:solidFill>
                <a:latin typeface="Calibri" pitchFamily="34" charset="0"/>
                <a:ea typeface="Calibri" pitchFamily="34" charset="-122"/>
                <a:cs typeface="Calibri" pitchFamily="34" charset="-120"/>
              </a:rPr>
              <a:t>Blender synthetic renders</a:t>
            </a:r>
            <a:endParaRPr lang="en-US" sz="1100" dirty="0"/>
          </a:p>
        </p:txBody>
      </p:sp>
      <p:sp>
        <p:nvSpPr>
          <p:cNvPr id="14" name="TextBox 13"/>
          <p:cNvSpPr txBox="1"/>
          <p:nvPr/>
        </p:nvSpPr>
        <p:spPr>
          <a:xfrm>
            <a:off x="566928" y="4407408"/>
            <a:ext cx="6583680" cy="548640"/>
          </a:xfrm>
          <a:prstGeom prst="rect">
            <a:avLst/>
          </a:prstGeom>
          <a:noFill/>
        </p:spPr>
        <p:txBody>
          <a:bodyPr wrap="square" lIns="0" tIns="0" rIns="0" bIns="0">
            <a:spAutoFit/>
          </a:bodyPr>
          <a:lstStyle/>
          <a:p>
            <a:r>
              <a:rPr sz="1100" b="1">
                <a:solidFill>
                  <a:srgbClr val="C2873B"/>
                </a:solidFill>
                <a:latin typeface="Calibri"/>
              </a:rPr>
              <a:t>Why we chose it:  </a:t>
            </a:r>
            <a:r>
              <a:rPr sz="1100" i="1">
                <a:solidFill>
                  <a:srgbClr val="F4EFE6"/>
                </a:solidFill>
                <a:latin typeface="Calibri"/>
              </a:rPr>
              <a:t>a modern, trending topic we had barely covered in class - and a real challenge.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01 · THE TASK</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What we are solving</a:t>
            </a:r>
            <a:endParaRPr lang="en-US" sz="3000" dirty="0"/>
          </a:p>
        </p:txBody>
      </p:sp>
      <p:sp>
        <p:nvSpPr>
          <p:cNvPr id="5" name="Text 3"/>
          <p:cNvSpPr/>
          <p:nvPr/>
        </p:nvSpPr>
        <p:spPr>
          <a:xfrm>
            <a:off x="566928" y="1508760"/>
            <a:ext cx="4754880" cy="2926080"/>
          </a:xfrm>
          <a:prstGeom prst="rect">
            <a:avLst/>
          </a:prstGeom>
          <a:noFill/>
          <a:ln/>
        </p:spPr>
        <p:txBody>
          <a:bodyPr wrap="square" lIns="0" tIns="0" rIns="0" bIns="0" rtlCol="0" anchor="ctr"/>
          <a:lstStyle/>
          <a:p>
            <a:pPr marL="342900" indent="-342900">
              <a:lnSpc>
                <a:spcPct val="100000"/>
              </a:lnSpc>
              <a:spcAft>
                <a:spcPts val="900"/>
              </a:spcAft>
              <a:buSzPct val="100000"/>
              <a:buChar char="•"/>
            </a:pPr>
            <a:r>
              <a:rPr lang="en-US" sz="1500" b="1" dirty="0">
                <a:solidFill>
                  <a:srgbClr val="2A2622"/>
                </a:solidFill>
                <a:latin typeface="Calibri" pitchFamily="34" charset="0"/>
                <a:ea typeface="Calibri" pitchFamily="34" charset="-122"/>
                <a:cs typeface="Calibri" pitchFamily="34" charset="-120"/>
              </a:rPr>
              <a:t>Input:  a FEN position + a viewpoint</a:t>
            </a:r>
            <a:endParaRPr lang="en-US" sz="1500" dirty="0"/>
          </a:p>
          <a:p>
            <a:pPr marL="685800" lvl="1" indent="-342900">
              <a:lnSpc>
                <a:spcPct val="100000"/>
              </a:lnSpc>
              <a:spcAft>
                <a:spcPts val="900"/>
              </a:spcAft>
              <a:buSzPct val="100000"/>
              <a:buChar char="•"/>
            </a:pPr>
            <a:r>
              <a:rPr lang="en-US" sz="1500" dirty="0">
                <a:solidFill>
                  <a:srgbClr val="6B4F3A"/>
                </a:solidFill>
                <a:latin typeface="Calibri" pitchFamily="34" charset="0"/>
                <a:ea typeface="Calibri" pitchFamily="34" charset="-122"/>
                <a:cs typeface="Calibri" pitchFamily="34" charset="-120"/>
              </a:rPr>
              <a:t>viewpoint ∈ {white, black} - which color is closest to the camera</a:t>
            </a:r>
            <a:endParaRPr lang="en-US" sz="1500" dirty="0"/>
          </a:p>
          <a:p>
            <a:pPr marL="342900" indent="-342900">
              <a:lnSpc>
                <a:spcPct val="100000"/>
              </a:lnSpc>
              <a:spcAft>
                <a:spcPts val="900"/>
              </a:spcAft>
              <a:buSzPct val="100000"/>
              <a:buChar char="•"/>
            </a:pPr>
            <a:r>
              <a:rPr lang="en-US" sz="1500" b="1" dirty="0">
                <a:solidFill>
                  <a:srgbClr val="2A2622"/>
                </a:solidFill>
                <a:latin typeface="Calibri" pitchFamily="34" charset="0"/>
                <a:ea typeface="Calibri" pitchFamily="34" charset="-122"/>
                <a:cs typeface="Calibri" pitchFamily="34" charset="-120"/>
              </a:rPr>
              <a:t>Output:  three images saved to ./results/</a:t>
            </a:r>
            <a:endParaRPr lang="en-US" sz="1500" dirty="0"/>
          </a:p>
          <a:p>
            <a:pPr marL="685800" lvl="1" indent="-342900">
              <a:lnSpc>
                <a:spcPct val="100000"/>
              </a:lnSpc>
              <a:spcAft>
                <a:spcPts val="900"/>
              </a:spcAft>
              <a:buSzPct val="100000"/>
              <a:buChar char="•"/>
            </a:pPr>
            <a:r>
              <a:rPr lang="en-US" sz="1500" dirty="0">
                <a:solidFill>
                  <a:srgbClr val="6B4F3A"/>
                </a:solidFill>
                <a:latin typeface="Calibri" pitchFamily="34" charset="0"/>
                <a:ea typeface="Calibri" pitchFamily="34" charset="-122"/>
                <a:cs typeface="Calibri" pitchFamily="34" charset="-120"/>
              </a:rPr>
              <a:t>synthetic.png · realistic.png · side_by_side.png</a:t>
            </a:r>
            <a:endParaRPr lang="en-US" sz="1500" dirty="0"/>
          </a:p>
          <a:p>
            <a:pPr marL="342900" indent="-342900">
              <a:lnSpc>
                <a:spcPct val="100000"/>
              </a:lnSpc>
              <a:spcAft>
                <a:spcPts val="900"/>
              </a:spcAft>
              <a:buSzPct val="100000"/>
              <a:buChar char="•"/>
            </a:pPr>
            <a:r>
              <a:rPr lang="en-US" sz="1500" b="1" dirty="0">
                <a:solidFill>
                  <a:srgbClr val="2A2622"/>
                </a:solidFill>
                <a:latin typeface="Calibri" pitchFamily="34" charset="0"/>
                <a:ea typeface="Calibri" pitchFamily="34" charset="-122"/>
                <a:cs typeface="Calibri" pitchFamily="34" charset="-120"/>
              </a:rPr>
              <a:t>The hard part: preserve the EXACT board state</a:t>
            </a:r>
            <a:endParaRPr lang="en-US" sz="1500" dirty="0"/>
          </a:p>
          <a:p>
            <a:pPr marL="685800" lvl="1" indent="-342900">
              <a:lnSpc>
                <a:spcPct val="100000"/>
              </a:lnSpc>
              <a:spcAft>
                <a:spcPts val="900"/>
              </a:spcAft>
              <a:buSzPct val="100000"/>
              <a:buChar char="•"/>
            </a:pPr>
            <a:r>
              <a:rPr lang="en-US" sz="1500" dirty="0">
                <a:solidFill>
                  <a:srgbClr val="6B4F3A"/>
                </a:solidFill>
                <a:latin typeface="Calibri" pitchFamily="34" charset="0"/>
                <a:ea typeface="Calibri" pitchFamily="34" charset="-122"/>
                <a:cs typeface="Calibri" pitchFamily="34" charset="-120"/>
              </a:rPr>
              <a:t>a pawn can't appear on an empty square; a rook can't become a bishop</a:t>
            </a:r>
            <a:endParaRPr lang="en-US" sz="1500" dirty="0"/>
          </a:p>
        </p:txBody>
      </p:sp>
      <p:sp>
        <p:nvSpPr>
          <p:cNvPr id="6" name="Shape 4"/>
          <p:cNvSpPr/>
          <p:nvPr/>
        </p:nvSpPr>
        <p:spPr>
          <a:xfrm>
            <a:off x="5760720" y="1554480"/>
            <a:ext cx="1508760" cy="1508760"/>
          </a:xfrm>
          <a:prstGeom prst="rect">
            <a:avLst/>
          </a:prstGeom>
          <a:solidFill>
            <a:srgbClr val="FFFFFF"/>
          </a:solidFill>
          <a:ln w="19050">
            <a:solidFill>
              <a:srgbClr val="C2873B"/>
            </a:solidFill>
            <a:prstDash val="solid"/>
          </a:ln>
          <a:effectLst>
            <a:outerShdw blurRad="88900" dist="38100" dir="8100000" algn="bl" rotWithShape="0">
              <a:srgbClr val="000000">
                <a:alpha val="16000"/>
              </a:srgbClr>
            </a:outerShdw>
          </a:effectLst>
        </p:spPr>
        <p:txBody>
          <a:bodyPr/>
          <a:lstStyle/>
          <a:p>
            <a:endParaRPr lang="en-IL"/>
          </a:p>
        </p:txBody>
      </p:sp>
      <p:pic>
        <p:nvPicPr>
          <p:cNvPr id="7" name="Image 0" descr="/Users/rnpqlr/Desktop/empty/dl project/submission/sample_outputs/synthetic_white_view.png"/>
          <p:cNvPicPr>
            <a:picLocks noChangeAspect="1"/>
          </p:cNvPicPr>
          <p:nvPr/>
        </p:nvPicPr>
        <p:blipFill>
          <a:blip r:embed="rId3"/>
          <a:stretch>
            <a:fillRect/>
          </a:stretch>
        </p:blipFill>
        <p:spPr>
          <a:xfrm>
            <a:off x="5806440" y="1600200"/>
            <a:ext cx="1417320" cy="1417320"/>
          </a:xfrm>
          <a:prstGeom prst="rect">
            <a:avLst/>
          </a:prstGeom>
        </p:spPr>
      </p:pic>
      <p:sp>
        <p:nvSpPr>
          <p:cNvPr id="8" name="Text 5"/>
          <p:cNvSpPr/>
          <p:nvPr/>
        </p:nvSpPr>
        <p:spPr>
          <a:xfrm>
            <a:off x="5760720" y="3054096"/>
            <a:ext cx="1508760" cy="256032"/>
          </a:xfrm>
          <a:prstGeom prst="rect">
            <a:avLst/>
          </a:prstGeom>
          <a:noFill/>
          <a:ln/>
        </p:spPr>
        <p:txBody>
          <a:bodyPr wrap="square" lIns="0" tIns="0" rIns="0" bIns="0" rtlCol="0" anchor="ctr"/>
          <a:lstStyle/>
          <a:p>
            <a:pPr marL="0" indent="0" algn="ctr">
              <a:buNone/>
            </a:pPr>
            <a:r>
              <a:rPr lang="en-US" sz="1100" i="1" dirty="0">
                <a:solidFill>
                  <a:srgbClr val="8A7E6E"/>
                </a:solidFill>
                <a:latin typeface="Calibri" pitchFamily="34" charset="0"/>
                <a:ea typeface="Calibri" pitchFamily="34" charset="-122"/>
                <a:cs typeface="Calibri" pitchFamily="34" charset="-120"/>
              </a:rPr>
              <a:t>white view</a:t>
            </a:r>
            <a:endParaRPr lang="en-US" sz="1100" dirty="0"/>
          </a:p>
        </p:txBody>
      </p:sp>
      <p:sp>
        <p:nvSpPr>
          <p:cNvPr id="9" name="Shape 6"/>
          <p:cNvSpPr/>
          <p:nvPr/>
        </p:nvSpPr>
        <p:spPr>
          <a:xfrm>
            <a:off x="7315200" y="1554480"/>
            <a:ext cx="1508760" cy="1508760"/>
          </a:xfrm>
          <a:prstGeom prst="rect">
            <a:avLst/>
          </a:prstGeom>
          <a:solidFill>
            <a:srgbClr val="FFFFFF"/>
          </a:solidFill>
          <a:ln w="19050">
            <a:solidFill>
              <a:srgbClr val="C2873B"/>
            </a:solidFill>
            <a:prstDash val="solid"/>
          </a:ln>
          <a:effectLst>
            <a:outerShdw blurRad="88900" dist="38100" dir="8100000" algn="bl" rotWithShape="0">
              <a:srgbClr val="000000">
                <a:alpha val="16000"/>
              </a:srgbClr>
            </a:outerShdw>
          </a:effectLst>
        </p:spPr>
        <p:txBody>
          <a:bodyPr/>
          <a:lstStyle/>
          <a:p>
            <a:endParaRPr lang="en-IL"/>
          </a:p>
        </p:txBody>
      </p:sp>
      <p:pic>
        <p:nvPicPr>
          <p:cNvPr id="10" name="Image 1" descr="/Users/rnpqlr/Desktop/empty/dl project/submission/sample_outputs/synthetic_black_view.png"/>
          <p:cNvPicPr>
            <a:picLocks noChangeAspect="1"/>
          </p:cNvPicPr>
          <p:nvPr/>
        </p:nvPicPr>
        <p:blipFill>
          <a:blip r:embed="rId4"/>
          <a:stretch>
            <a:fillRect/>
          </a:stretch>
        </p:blipFill>
        <p:spPr>
          <a:xfrm>
            <a:off x="7360920" y="1600200"/>
            <a:ext cx="1417320" cy="1417320"/>
          </a:xfrm>
          <a:prstGeom prst="rect">
            <a:avLst/>
          </a:prstGeom>
        </p:spPr>
      </p:pic>
      <p:sp>
        <p:nvSpPr>
          <p:cNvPr id="11" name="Text 7"/>
          <p:cNvSpPr/>
          <p:nvPr/>
        </p:nvSpPr>
        <p:spPr>
          <a:xfrm>
            <a:off x="7315200" y="3054096"/>
            <a:ext cx="1508760" cy="256032"/>
          </a:xfrm>
          <a:prstGeom prst="rect">
            <a:avLst/>
          </a:prstGeom>
          <a:noFill/>
          <a:ln/>
        </p:spPr>
        <p:txBody>
          <a:bodyPr wrap="square" lIns="0" tIns="0" rIns="0" bIns="0" rtlCol="0" anchor="ctr"/>
          <a:lstStyle/>
          <a:p>
            <a:pPr marL="0" indent="0" algn="ctr">
              <a:buNone/>
            </a:pPr>
            <a:r>
              <a:rPr lang="en-US" sz="1100" i="1" dirty="0">
                <a:solidFill>
                  <a:srgbClr val="8A7E6E"/>
                </a:solidFill>
                <a:latin typeface="Calibri" pitchFamily="34" charset="0"/>
                <a:ea typeface="Calibri" pitchFamily="34" charset="-122"/>
                <a:cs typeface="Calibri" pitchFamily="34" charset="-120"/>
              </a:rPr>
              <a:t>black view</a:t>
            </a:r>
            <a:endParaRPr lang="en-US" sz="1100" dirty="0"/>
          </a:p>
        </p:txBody>
      </p:sp>
      <p:sp>
        <p:nvSpPr>
          <p:cNvPr id="12" name="Text 8"/>
          <p:cNvSpPr/>
          <p:nvPr/>
        </p:nvSpPr>
        <p:spPr>
          <a:xfrm>
            <a:off x="5669280" y="3456432"/>
            <a:ext cx="3108960" cy="274320"/>
          </a:xfrm>
          <a:prstGeom prst="rect">
            <a:avLst/>
          </a:prstGeom>
          <a:noFill/>
          <a:ln/>
        </p:spPr>
        <p:txBody>
          <a:bodyPr wrap="square" lIns="0" tIns="0" rIns="0" bIns="0" rtlCol="0" anchor="ctr"/>
          <a:lstStyle/>
          <a:p>
            <a:pPr marL="0" indent="0" algn="ctr">
              <a:buNone/>
            </a:pPr>
            <a:r>
              <a:rPr lang="en-US" sz="1100" i="1" dirty="0">
                <a:solidFill>
                  <a:srgbClr val="8A7E6E"/>
                </a:solidFill>
                <a:latin typeface="Calibri" pitchFamily="34" charset="0"/>
                <a:ea typeface="Calibri" pitchFamily="34" charset="-122"/>
                <a:cs typeface="Calibri" pitchFamily="34" charset="-120"/>
              </a:rPr>
              <a:t>Same FEN, two viewpoints</a:t>
            </a:r>
            <a:endParaRPr lang="en-US" sz="1100" dirty="0"/>
          </a:p>
        </p:txBody>
      </p:sp>
      <p:sp>
        <p:nvSpPr>
          <p:cNvPr id="13" name="Text 9"/>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4" name="Text 10"/>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02 · APPROACH</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A two-stage pipeline</a:t>
            </a:r>
            <a:endParaRPr lang="en-US" sz="3000" dirty="0"/>
          </a:p>
        </p:txBody>
      </p:sp>
      <p:sp>
        <p:nvSpPr>
          <p:cNvPr id="5" name="Shape 3"/>
          <p:cNvSpPr/>
          <p:nvPr/>
        </p:nvSpPr>
        <p:spPr>
          <a:xfrm>
            <a:off x="548640" y="1874520"/>
            <a:ext cx="1828800" cy="1325880"/>
          </a:xfrm>
          <a:prstGeom prst="roundRect">
            <a:avLst>
              <a:gd name="adj" fmla="val 5517"/>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6" name="Text 4"/>
          <p:cNvSpPr/>
          <p:nvPr/>
        </p:nvSpPr>
        <p:spPr>
          <a:xfrm>
            <a:off x="658368" y="1874520"/>
            <a:ext cx="1609344" cy="1325880"/>
          </a:xfrm>
          <a:prstGeom prst="rect">
            <a:avLst/>
          </a:prstGeom>
          <a:noFill/>
          <a:ln/>
        </p:spPr>
        <p:txBody>
          <a:bodyPr wrap="square" lIns="0" tIns="0" rIns="0" bIns="0" rtlCol="0" anchor="ctr"/>
          <a:lstStyle/>
          <a:p>
            <a:pPr marL="0" indent="0" algn="ctr">
              <a:buNone/>
            </a:pPr>
            <a:r>
              <a:rPr lang="en-US" sz="1300" b="1" dirty="0">
                <a:solidFill>
                  <a:srgbClr val="2A2622"/>
                </a:solidFill>
                <a:latin typeface="Calibri" pitchFamily="34" charset="0"/>
                <a:ea typeface="Calibri" pitchFamily="34" charset="-122"/>
                <a:cs typeface="Calibri" pitchFamily="34" charset="-120"/>
              </a:rPr>
              <a:t>FEN + viewpoint</a:t>
            </a:r>
            <a:endParaRPr lang="en-US" sz="1300" dirty="0"/>
          </a:p>
          <a:p>
            <a:pPr marL="0" indent="0" algn="ctr">
              <a:buNone/>
            </a:pPr>
            <a:r>
              <a:rPr lang="en-US" sz="1050" dirty="0">
                <a:solidFill>
                  <a:srgbClr val="8A7E6E"/>
                </a:solidFill>
                <a:latin typeface="Calibri" pitchFamily="34" charset="0"/>
                <a:ea typeface="Calibri" pitchFamily="34" charset="-122"/>
                <a:cs typeface="Calibri" pitchFamily="34" charset="-120"/>
              </a:rPr>
              <a:t>the only inputs</a:t>
            </a:r>
            <a:endParaRPr lang="en-US" sz="1300" dirty="0"/>
          </a:p>
        </p:txBody>
      </p:sp>
      <p:sp>
        <p:nvSpPr>
          <p:cNvPr id="7" name="Text 5"/>
          <p:cNvSpPr/>
          <p:nvPr/>
        </p:nvSpPr>
        <p:spPr>
          <a:xfrm>
            <a:off x="2450592" y="2354580"/>
            <a:ext cx="274320" cy="365760"/>
          </a:xfrm>
          <a:prstGeom prst="rect">
            <a:avLst/>
          </a:prstGeom>
          <a:noFill/>
          <a:ln/>
        </p:spPr>
        <p:txBody>
          <a:bodyPr wrap="square" lIns="0" tIns="0" rIns="0" bIns="0" rtlCol="0" anchor="ctr"/>
          <a:lstStyle/>
          <a:p>
            <a:pPr marL="0" indent="0" algn="ctr">
              <a:buNone/>
            </a:pPr>
            <a:r>
              <a:rPr lang="en-US" sz="2200" b="1" dirty="0">
                <a:solidFill>
                  <a:srgbClr val="C2873B"/>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788920" y="1874520"/>
            <a:ext cx="1828800" cy="1325880"/>
          </a:xfrm>
          <a:prstGeom prst="roundRect">
            <a:avLst>
              <a:gd name="adj" fmla="val 5517"/>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9" name="Text 7"/>
          <p:cNvSpPr/>
          <p:nvPr/>
        </p:nvSpPr>
        <p:spPr>
          <a:xfrm>
            <a:off x="2898648" y="1874520"/>
            <a:ext cx="1609344" cy="1325880"/>
          </a:xfrm>
          <a:prstGeom prst="rect">
            <a:avLst/>
          </a:prstGeom>
          <a:noFill/>
          <a:ln/>
        </p:spPr>
        <p:txBody>
          <a:bodyPr wrap="square" lIns="0" tIns="0" rIns="0" bIns="0" rtlCol="0" anchor="ctr"/>
          <a:lstStyle/>
          <a:p>
            <a:pPr marL="0" indent="0" algn="ctr">
              <a:buNone/>
            </a:pPr>
            <a:r>
              <a:rPr lang="en-US" sz="1300" b="1" dirty="0">
                <a:solidFill>
                  <a:srgbClr val="2A2622"/>
                </a:solidFill>
                <a:latin typeface="Calibri" pitchFamily="34" charset="0"/>
                <a:ea typeface="Calibri" pitchFamily="34" charset="-122"/>
                <a:cs typeface="Calibri" pitchFamily="34" charset="-120"/>
              </a:rPr>
              <a:t>Blender render</a:t>
            </a:r>
            <a:endParaRPr lang="en-US" sz="1300" dirty="0"/>
          </a:p>
          <a:p>
            <a:pPr marL="0" indent="0" algn="ctr">
              <a:buNone/>
            </a:pPr>
            <a:r>
              <a:rPr lang="en-US" sz="1050" dirty="0">
                <a:solidFill>
                  <a:srgbClr val="8A7E6E"/>
                </a:solidFill>
                <a:latin typeface="Calibri" pitchFamily="34" charset="0"/>
                <a:ea typeface="Calibri" pitchFamily="34" charset="-122"/>
                <a:cs typeface="Calibri" pitchFamily="34" charset="-120"/>
              </a:rPr>
              <a:t>synthetic + seg + depth</a:t>
            </a:r>
            <a:endParaRPr lang="en-US" sz="1300" dirty="0"/>
          </a:p>
        </p:txBody>
      </p:sp>
      <p:sp>
        <p:nvSpPr>
          <p:cNvPr id="10" name="Text 8"/>
          <p:cNvSpPr/>
          <p:nvPr/>
        </p:nvSpPr>
        <p:spPr>
          <a:xfrm>
            <a:off x="4690872" y="2354580"/>
            <a:ext cx="274320" cy="365760"/>
          </a:xfrm>
          <a:prstGeom prst="rect">
            <a:avLst/>
          </a:prstGeom>
          <a:noFill/>
          <a:ln/>
        </p:spPr>
        <p:txBody>
          <a:bodyPr wrap="square" lIns="0" tIns="0" rIns="0" bIns="0" rtlCol="0" anchor="ctr"/>
          <a:lstStyle/>
          <a:p>
            <a:pPr marL="0" indent="0" algn="ctr">
              <a:buNone/>
            </a:pPr>
            <a:r>
              <a:rPr lang="en-US" sz="2200" b="1" dirty="0">
                <a:solidFill>
                  <a:srgbClr val="C2873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029200" y="1874520"/>
            <a:ext cx="1828800" cy="1325880"/>
          </a:xfrm>
          <a:prstGeom prst="roundRect">
            <a:avLst>
              <a:gd name="adj" fmla="val 5517"/>
            </a:avLst>
          </a:prstGeom>
          <a:solidFill>
            <a:srgbClr val="F3E7D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12" name="Text 10"/>
          <p:cNvSpPr/>
          <p:nvPr/>
        </p:nvSpPr>
        <p:spPr>
          <a:xfrm>
            <a:off x="5138928" y="1874520"/>
            <a:ext cx="1609344" cy="1325880"/>
          </a:xfrm>
          <a:prstGeom prst="rect">
            <a:avLst/>
          </a:prstGeom>
          <a:noFill/>
          <a:ln/>
        </p:spPr>
        <p:txBody>
          <a:bodyPr wrap="square" lIns="0" tIns="0" rIns="0" bIns="0" rtlCol="0" anchor="ctr"/>
          <a:lstStyle/>
          <a:p>
            <a:pPr marL="0" indent="0" algn="ctr">
              <a:buNone/>
            </a:pPr>
            <a:r>
              <a:rPr lang="en-US" sz="1300" b="1" dirty="0">
                <a:solidFill>
                  <a:srgbClr val="6B4F3A"/>
                </a:solidFill>
                <a:latin typeface="Calibri" pitchFamily="34" charset="0"/>
                <a:ea typeface="Calibri" pitchFamily="34" charset="-122"/>
                <a:cs typeface="Calibri" pitchFamily="34" charset="-120"/>
              </a:rPr>
              <a:t>Paired pix2pixHD</a:t>
            </a:r>
            <a:endParaRPr lang="en-US" sz="1300" dirty="0"/>
          </a:p>
          <a:p>
            <a:pPr marL="0" indent="0" algn="ctr">
              <a:buNone/>
            </a:pPr>
            <a:r>
              <a:rPr lang="en-US" sz="1050" dirty="0">
                <a:solidFill>
                  <a:srgbClr val="8A7E6E"/>
                </a:solidFill>
                <a:latin typeface="Calibri" pitchFamily="34" charset="0"/>
                <a:ea typeface="Calibri" pitchFamily="34" charset="-122"/>
                <a:cs typeface="Calibri" pitchFamily="34" charset="-120"/>
              </a:rPr>
              <a:t>geometry-conditioned G</a:t>
            </a:r>
            <a:endParaRPr lang="en-US" sz="1300" dirty="0"/>
          </a:p>
        </p:txBody>
      </p:sp>
      <p:sp>
        <p:nvSpPr>
          <p:cNvPr id="13" name="Text 11"/>
          <p:cNvSpPr/>
          <p:nvPr/>
        </p:nvSpPr>
        <p:spPr>
          <a:xfrm>
            <a:off x="6931152" y="2354580"/>
            <a:ext cx="274320" cy="365760"/>
          </a:xfrm>
          <a:prstGeom prst="rect">
            <a:avLst/>
          </a:prstGeom>
          <a:noFill/>
          <a:ln/>
        </p:spPr>
        <p:txBody>
          <a:bodyPr wrap="square" lIns="0" tIns="0" rIns="0" bIns="0" rtlCol="0" anchor="ctr"/>
          <a:lstStyle/>
          <a:p>
            <a:pPr marL="0" indent="0" algn="ctr">
              <a:buNone/>
            </a:pPr>
            <a:r>
              <a:rPr lang="en-US" sz="2200" b="1" dirty="0">
                <a:solidFill>
                  <a:srgbClr val="C2873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7269480" y="1874520"/>
            <a:ext cx="1828800" cy="1325880"/>
          </a:xfrm>
          <a:prstGeom prst="roundRect">
            <a:avLst>
              <a:gd name="adj" fmla="val 5517"/>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15" name="Text 13"/>
          <p:cNvSpPr/>
          <p:nvPr/>
        </p:nvSpPr>
        <p:spPr>
          <a:xfrm>
            <a:off x="7379208" y="1874520"/>
            <a:ext cx="1609344" cy="1325880"/>
          </a:xfrm>
          <a:prstGeom prst="rect">
            <a:avLst/>
          </a:prstGeom>
          <a:noFill/>
          <a:ln/>
        </p:spPr>
        <p:txBody>
          <a:bodyPr wrap="square" lIns="0" tIns="0" rIns="0" bIns="0" rtlCol="0" anchor="ctr"/>
          <a:lstStyle/>
          <a:p>
            <a:pPr marL="0" indent="0" algn="ctr">
              <a:buNone/>
            </a:pPr>
            <a:r>
              <a:rPr lang="en-US" sz="1300" b="1" dirty="0">
                <a:solidFill>
                  <a:srgbClr val="2A2622"/>
                </a:solidFill>
                <a:latin typeface="Calibri" pitchFamily="34" charset="0"/>
                <a:ea typeface="Calibri" pitchFamily="34" charset="-122"/>
                <a:cs typeface="Calibri" pitchFamily="34" charset="-120"/>
              </a:rPr>
              <a:t>Realistic image</a:t>
            </a:r>
            <a:endParaRPr lang="en-US" sz="1300" dirty="0"/>
          </a:p>
          <a:p>
            <a:pPr marL="0" indent="0" algn="ctr">
              <a:buNone/>
            </a:pPr>
            <a:r>
              <a:rPr lang="en-US" sz="1050" dirty="0">
                <a:solidFill>
                  <a:srgbClr val="8A7E6E"/>
                </a:solidFill>
                <a:latin typeface="Calibri" pitchFamily="34" charset="0"/>
                <a:ea typeface="Calibri" pitchFamily="34" charset="-122"/>
                <a:cs typeface="Calibri" pitchFamily="34" charset="-120"/>
              </a:rPr>
              <a:t>+ side-by-side</a:t>
            </a:r>
            <a:endParaRPr lang="en-US" sz="1300" dirty="0"/>
          </a:p>
        </p:txBody>
      </p:sp>
      <p:sp>
        <p:nvSpPr>
          <p:cNvPr id="16" name="Text 14"/>
          <p:cNvSpPr/>
          <p:nvPr/>
        </p:nvSpPr>
        <p:spPr>
          <a:xfrm>
            <a:off x="566928" y="3611880"/>
            <a:ext cx="8046720" cy="640080"/>
          </a:xfrm>
          <a:prstGeom prst="rect">
            <a:avLst/>
          </a:prstGeom>
          <a:noFill/>
          <a:ln/>
        </p:spPr>
        <p:txBody>
          <a:bodyPr wrap="square" lIns="0" tIns="0" rIns="0" bIns="0" rtlCol="0" anchor="ctr"/>
          <a:lstStyle/>
          <a:p>
            <a:pPr marL="0" indent="0" algn="ctr">
              <a:buNone/>
            </a:pPr>
            <a:r>
              <a:rPr lang="en-US" sz="1400" b="1" dirty="0">
                <a:solidFill>
                  <a:srgbClr val="6B4F3A"/>
                </a:solidFill>
                <a:latin typeface="Calibri" pitchFamily="34" charset="0"/>
                <a:ea typeface="Calibri" pitchFamily="34" charset="-122"/>
                <a:cs typeface="Calibri" pitchFamily="34" charset="-120"/>
              </a:rPr>
              <a:t>Paired</a:t>
            </a:r>
            <a:r>
              <a:rPr lang="en-US" sz="1400" dirty="0">
                <a:solidFill>
                  <a:srgbClr val="2A2622"/>
                </a:solidFill>
                <a:latin typeface="Calibri" pitchFamily="34" charset="0"/>
                <a:ea typeface="Calibri" pitchFamily="34" charset="-122"/>
                <a:cs typeface="Calibri" pitchFamily="34" charset="-120"/>
              </a:rPr>
              <a:t> supervision: the model gets a direct penalty for moving a piece or inventing texture on an empty square.</a:t>
            </a:r>
            <a:endParaRPr lang="en-US" sz="1400" dirty="0"/>
          </a:p>
        </p:txBody>
      </p:sp>
      <p:sp>
        <p:nvSpPr>
          <p:cNvPr id="17" name="Text 15"/>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8" name="Text 16"/>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02 · APPROACH</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From one FEN: three aligned renders</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4</a:t>
            </a:r>
            <a:endParaRPr lang="en-US" sz="900" dirty="0"/>
          </a:p>
        </p:txBody>
      </p:sp>
      <p:pic>
        <p:nvPicPr>
          <p:cNvPr id="17" name="Picture 16" descr="cond_rgb.png"/>
          <p:cNvPicPr>
            <a:picLocks noChangeAspect="1"/>
          </p:cNvPicPr>
          <p:nvPr/>
        </p:nvPicPr>
        <p:blipFill>
          <a:blip r:embed="rId3"/>
          <a:stretch>
            <a:fillRect/>
          </a:stretch>
        </p:blipFill>
        <p:spPr>
          <a:xfrm>
            <a:off x="571500" y="1591056"/>
            <a:ext cx="2331720" cy="2331720"/>
          </a:xfrm>
          <a:prstGeom prst="rect">
            <a:avLst/>
          </a:prstGeom>
        </p:spPr>
      </p:pic>
      <p:sp>
        <p:nvSpPr>
          <p:cNvPr id="18" name="TextBox 17"/>
          <p:cNvSpPr txBox="1"/>
          <p:nvPr/>
        </p:nvSpPr>
        <p:spPr>
          <a:xfrm>
            <a:off x="571500" y="4032504"/>
            <a:ext cx="2331720" cy="572273"/>
          </a:xfrm>
          <a:prstGeom prst="rect">
            <a:avLst/>
          </a:prstGeom>
          <a:noFill/>
        </p:spPr>
        <p:txBody>
          <a:bodyPr wrap="square" lIns="0" tIns="0" rIns="0" bIns="0">
            <a:spAutoFit/>
          </a:bodyPr>
          <a:lstStyle/>
          <a:p>
            <a:pPr algn="ctr">
              <a:spcAft>
                <a:spcPts val="200"/>
              </a:spcAft>
            </a:pPr>
            <a:r>
              <a:rPr sz="1300" b="1" i="0" kern="0" dirty="0">
                <a:solidFill>
                  <a:srgbClr val="2A2622"/>
                </a:solidFill>
                <a:latin typeface="Calibri"/>
              </a:rPr>
              <a:t>RGB render</a:t>
            </a:r>
          </a:p>
          <a:p>
            <a:pPr algn="ctr">
              <a:lnSpc>
                <a:spcPct val="110000"/>
              </a:lnSpc>
            </a:pPr>
            <a:r>
              <a:rPr sz="1050" b="0" i="0" kern="0" dirty="0">
                <a:solidFill>
                  <a:srgbClr val="8A7E6E"/>
                </a:solidFill>
                <a:latin typeface="Calibri"/>
              </a:rPr>
              <a:t>what the board looks like - color, lighting, wood</a:t>
            </a:r>
          </a:p>
        </p:txBody>
      </p:sp>
      <p:pic>
        <p:nvPicPr>
          <p:cNvPr id="19" name="Picture 18" descr="cond_seg.png"/>
          <p:cNvPicPr>
            <a:picLocks noChangeAspect="1"/>
          </p:cNvPicPr>
          <p:nvPr/>
        </p:nvPicPr>
        <p:blipFill>
          <a:blip r:embed="rId4"/>
          <a:stretch>
            <a:fillRect/>
          </a:stretch>
        </p:blipFill>
        <p:spPr>
          <a:xfrm>
            <a:off x="3406139" y="1591056"/>
            <a:ext cx="2331720" cy="2331720"/>
          </a:xfrm>
          <a:prstGeom prst="rect">
            <a:avLst/>
          </a:prstGeom>
        </p:spPr>
      </p:pic>
      <p:sp>
        <p:nvSpPr>
          <p:cNvPr id="20" name="TextBox 19"/>
          <p:cNvSpPr txBox="1"/>
          <p:nvPr/>
        </p:nvSpPr>
        <p:spPr>
          <a:xfrm>
            <a:off x="3406139" y="4032504"/>
            <a:ext cx="2331720" cy="731520"/>
          </a:xfrm>
          <a:prstGeom prst="rect">
            <a:avLst/>
          </a:prstGeom>
          <a:noFill/>
        </p:spPr>
        <p:txBody>
          <a:bodyPr wrap="square" lIns="0" tIns="0" rIns="0" bIns="0">
            <a:spAutoFit/>
          </a:bodyPr>
          <a:lstStyle/>
          <a:p>
            <a:pPr algn="ctr">
              <a:spcAft>
                <a:spcPts val="200"/>
              </a:spcAft>
            </a:pPr>
            <a:r>
              <a:rPr sz="1300" b="1" i="0" kern="0">
                <a:solidFill>
                  <a:srgbClr val="2A2622"/>
                </a:solidFill>
                <a:latin typeface="Calibri"/>
              </a:rPr>
              <a:t>Semantic silhouette</a:t>
            </a:r>
          </a:p>
          <a:p>
            <a:pPr algn="ctr">
              <a:lnSpc>
                <a:spcPct val="110000"/>
              </a:lnSpc>
            </a:pPr>
            <a:r>
              <a:rPr sz="1050" b="0" i="0" kern="0">
                <a:solidFill>
                  <a:srgbClr val="8A7E6E"/>
                </a:solidFill>
                <a:latin typeface="Calibri"/>
              </a:rPr>
              <a:t>which piece type sits on every pixel - keeps the exact position</a:t>
            </a:r>
          </a:p>
        </p:txBody>
      </p:sp>
      <p:pic>
        <p:nvPicPr>
          <p:cNvPr id="21" name="Picture 20" descr="cond_depth.png"/>
          <p:cNvPicPr>
            <a:picLocks noChangeAspect="1"/>
          </p:cNvPicPr>
          <p:nvPr/>
        </p:nvPicPr>
        <p:blipFill>
          <a:blip r:embed="rId5"/>
          <a:stretch>
            <a:fillRect/>
          </a:stretch>
        </p:blipFill>
        <p:spPr>
          <a:xfrm>
            <a:off x="6240779" y="1591056"/>
            <a:ext cx="2331720" cy="2331720"/>
          </a:xfrm>
          <a:prstGeom prst="rect">
            <a:avLst/>
          </a:prstGeom>
        </p:spPr>
      </p:pic>
      <p:sp>
        <p:nvSpPr>
          <p:cNvPr id="22" name="TextBox 21"/>
          <p:cNvSpPr txBox="1"/>
          <p:nvPr/>
        </p:nvSpPr>
        <p:spPr>
          <a:xfrm>
            <a:off x="6240779" y="4032504"/>
            <a:ext cx="2331720" cy="731520"/>
          </a:xfrm>
          <a:prstGeom prst="rect">
            <a:avLst/>
          </a:prstGeom>
          <a:noFill/>
        </p:spPr>
        <p:txBody>
          <a:bodyPr wrap="square" lIns="0" tIns="0" rIns="0" bIns="0">
            <a:spAutoFit/>
          </a:bodyPr>
          <a:lstStyle/>
          <a:p>
            <a:pPr algn="ctr">
              <a:spcAft>
                <a:spcPts val="200"/>
              </a:spcAft>
            </a:pPr>
            <a:r>
              <a:rPr sz="1300" b="1" i="0" kern="0">
                <a:solidFill>
                  <a:srgbClr val="2A2622"/>
                </a:solidFill>
                <a:latin typeface="Calibri"/>
              </a:rPr>
              <a:t>Depth</a:t>
            </a:r>
          </a:p>
          <a:p>
            <a:pPr algn="ctr">
              <a:lnSpc>
                <a:spcPct val="110000"/>
              </a:lnSpc>
            </a:pPr>
            <a:r>
              <a:rPr sz="1050" b="0" i="0" kern="0">
                <a:solidFill>
                  <a:srgbClr val="8A7E6E"/>
                </a:solidFill>
                <a:latin typeface="Calibri"/>
              </a:rPr>
              <a:t>distance from the camera - the 3-D height flat RGB can’t show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02 · APPROACH</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One pixel = 21 numbers</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5</a:t>
            </a:r>
            <a:endParaRPr lang="en-US" sz="900" dirty="0"/>
          </a:p>
        </p:txBody>
      </p:sp>
      <p:pic>
        <p:nvPicPr>
          <p:cNvPr id="17" name="Picture 16" descr="pixel_tensor_zoom.png"/>
          <p:cNvPicPr>
            <a:picLocks noChangeAspect="1"/>
          </p:cNvPicPr>
          <p:nvPr/>
        </p:nvPicPr>
        <p:blipFill>
          <a:blip r:embed="rId4"/>
          <a:stretch>
            <a:fillRect/>
          </a:stretch>
        </p:blipFill>
        <p:spPr>
          <a:xfrm>
            <a:off x="457200" y="1554480"/>
            <a:ext cx="8229600" cy="29567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03 · WHAT IS SPECIAL</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Condition on geometry, not just RGB</a:t>
            </a:r>
            <a:endParaRPr lang="en-US" sz="3000" dirty="0"/>
          </a:p>
        </p:txBody>
      </p:sp>
      <p:sp>
        <p:nvSpPr>
          <p:cNvPr id="5" name="Shape 3"/>
          <p:cNvSpPr/>
          <p:nvPr/>
        </p:nvSpPr>
        <p:spPr>
          <a:xfrm>
            <a:off x="566928" y="1554480"/>
            <a:ext cx="4572000" cy="786384"/>
          </a:xfrm>
          <a:prstGeom prst="rect">
            <a:avLst/>
          </a:prstGeom>
          <a:solidFill>
            <a:srgbClr val="E8D9BE"/>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6" name="Text 4"/>
          <p:cNvSpPr/>
          <p:nvPr/>
        </p:nvSpPr>
        <p:spPr>
          <a:xfrm>
            <a:off x="731520" y="1554480"/>
            <a:ext cx="4297680" cy="786384"/>
          </a:xfrm>
          <a:prstGeom prst="rect">
            <a:avLst/>
          </a:prstGeom>
          <a:noFill/>
          <a:ln/>
        </p:spPr>
        <p:txBody>
          <a:bodyPr wrap="square" lIns="0" tIns="0" rIns="0" bIns="0" rtlCol="0" anchor="ctr"/>
          <a:lstStyle/>
          <a:p>
            <a:pPr marL="0" indent="0">
              <a:buNone/>
            </a:pPr>
            <a:r>
              <a:rPr lang="en-US" sz="1350" b="1" dirty="0">
                <a:solidFill>
                  <a:srgbClr val="2A2622"/>
                </a:solidFill>
                <a:latin typeface="Calibri" pitchFamily="34" charset="0"/>
                <a:ea typeface="Calibri" pitchFamily="34" charset="-122"/>
                <a:cs typeface="Calibri" pitchFamily="34" charset="-120"/>
              </a:rPr>
              <a:t>RGB synthetic render</a:t>
            </a:r>
            <a:endParaRPr lang="en-US" sz="1350" dirty="0"/>
          </a:p>
          <a:p>
            <a:pPr marL="0" indent="0">
              <a:buNone/>
            </a:pPr>
            <a:r>
              <a:rPr lang="en-US" sz="1050" dirty="0">
                <a:solidFill>
                  <a:srgbClr val="6B4F3A"/>
                </a:solidFill>
                <a:latin typeface="Calibri" pitchFamily="34" charset="0"/>
                <a:ea typeface="Calibri" pitchFamily="34" charset="-122"/>
                <a:cs typeface="Calibri" pitchFamily="34" charset="-120"/>
              </a:rPr>
              <a:t>3 channels</a:t>
            </a:r>
            <a:endParaRPr lang="en-US" sz="1350" dirty="0"/>
          </a:p>
        </p:txBody>
      </p:sp>
      <p:sp>
        <p:nvSpPr>
          <p:cNvPr id="7" name="Shape 5"/>
          <p:cNvSpPr/>
          <p:nvPr/>
        </p:nvSpPr>
        <p:spPr>
          <a:xfrm>
            <a:off x="566928" y="2450592"/>
            <a:ext cx="4572000" cy="786384"/>
          </a:xfrm>
          <a:prstGeom prst="rect">
            <a:avLst/>
          </a:prstGeom>
          <a:solidFill>
            <a:srgbClr val="DFC9A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8" name="Text 6"/>
          <p:cNvSpPr/>
          <p:nvPr/>
        </p:nvSpPr>
        <p:spPr>
          <a:xfrm>
            <a:off x="731520" y="2450592"/>
            <a:ext cx="4297680" cy="786384"/>
          </a:xfrm>
          <a:prstGeom prst="rect">
            <a:avLst/>
          </a:prstGeom>
          <a:noFill/>
          <a:ln/>
        </p:spPr>
        <p:txBody>
          <a:bodyPr wrap="square" lIns="0" tIns="0" rIns="0" bIns="0" rtlCol="0" anchor="ctr"/>
          <a:lstStyle/>
          <a:p>
            <a:pPr marL="0" indent="0">
              <a:buNone/>
            </a:pPr>
            <a:r>
              <a:rPr lang="en-US" sz="1350" b="1" dirty="0">
                <a:solidFill>
                  <a:srgbClr val="2A2622"/>
                </a:solidFill>
                <a:latin typeface="Calibri" pitchFamily="34" charset="0"/>
                <a:ea typeface="Calibri" pitchFamily="34" charset="-122"/>
                <a:cs typeface="Calibri" pitchFamily="34" charset="-120"/>
              </a:rPr>
              <a:t>Semantic one-hot - fen_silhouette</a:t>
            </a:r>
            <a:endParaRPr lang="en-US" sz="1350" dirty="0"/>
          </a:p>
          <a:p>
            <a:pPr marL="0" indent="0">
              <a:buNone/>
            </a:pPr>
            <a:r>
              <a:rPr lang="en-US" sz="1050" dirty="0">
                <a:solidFill>
                  <a:srgbClr val="6B4F3A"/>
                </a:solidFill>
                <a:latin typeface="Calibri" pitchFamily="34" charset="0"/>
                <a:ea typeface="Calibri" pitchFamily="34" charset="-122"/>
                <a:cs typeface="Calibri" pitchFamily="34" charset="-120"/>
              </a:rPr>
              <a:t>15 channels  ·  empty + 12 piece classes</a:t>
            </a:r>
            <a:endParaRPr lang="en-US" sz="1350" dirty="0"/>
          </a:p>
        </p:txBody>
      </p:sp>
      <p:sp>
        <p:nvSpPr>
          <p:cNvPr id="9" name="Shape 7"/>
          <p:cNvSpPr/>
          <p:nvPr/>
        </p:nvSpPr>
        <p:spPr>
          <a:xfrm>
            <a:off x="566928" y="3346704"/>
            <a:ext cx="4572000" cy="786384"/>
          </a:xfrm>
          <a:prstGeom prst="rect">
            <a:avLst/>
          </a:prstGeom>
          <a:solidFill>
            <a:srgbClr val="CBB07E"/>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10" name="Text 8"/>
          <p:cNvSpPr/>
          <p:nvPr/>
        </p:nvSpPr>
        <p:spPr>
          <a:xfrm>
            <a:off x="731520" y="3346704"/>
            <a:ext cx="4297680" cy="786384"/>
          </a:xfrm>
          <a:prstGeom prst="rect">
            <a:avLst/>
          </a:prstGeom>
          <a:noFill/>
          <a:ln/>
        </p:spPr>
        <p:txBody>
          <a:bodyPr wrap="square" lIns="0" tIns="0" rIns="0" bIns="0" rtlCol="0" anchor="ctr"/>
          <a:lstStyle/>
          <a:p>
            <a:pPr marL="0" indent="0">
              <a:buNone/>
            </a:pPr>
            <a:r>
              <a:rPr lang="en-US" sz="1350" b="1" dirty="0">
                <a:solidFill>
                  <a:srgbClr val="2A2622"/>
                </a:solidFill>
                <a:latin typeface="Calibri" pitchFamily="34" charset="0"/>
                <a:ea typeface="Calibri" pitchFamily="34" charset="-122"/>
                <a:cs typeface="Calibri" pitchFamily="34" charset="-120"/>
              </a:rPr>
              <a:t>Geometry - depth · silhouette · edge</a:t>
            </a:r>
            <a:endParaRPr lang="en-US" sz="1350" dirty="0"/>
          </a:p>
          <a:p>
            <a:pPr marL="0" indent="0">
              <a:buNone/>
            </a:pPr>
            <a:r>
              <a:rPr lang="en-US" sz="1050" dirty="0">
                <a:solidFill>
                  <a:srgbClr val="6B4F3A"/>
                </a:solidFill>
                <a:latin typeface="Calibri" pitchFamily="34" charset="0"/>
                <a:ea typeface="Calibri" pitchFamily="34" charset="-122"/>
                <a:cs typeface="Calibri" pitchFamily="34" charset="-120"/>
              </a:rPr>
              <a:t>3 channels</a:t>
            </a:r>
            <a:endParaRPr lang="en-US" sz="1350" dirty="0"/>
          </a:p>
        </p:txBody>
      </p:sp>
      <p:sp>
        <p:nvSpPr>
          <p:cNvPr id="11" name="Text 9"/>
          <p:cNvSpPr/>
          <p:nvPr/>
        </p:nvSpPr>
        <p:spPr>
          <a:xfrm>
            <a:off x="5303520" y="2240280"/>
            <a:ext cx="274320" cy="365760"/>
          </a:xfrm>
          <a:prstGeom prst="rect">
            <a:avLst/>
          </a:prstGeom>
          <a:noFill/>
          <a:ln/>
        </p:spPr>
        <p:txBody>
          <a:bodyPr wrap="square" lIns="0" tIns="0" rIns="0" bIns="0" rtlCol="0" anchor="ctr"/>
          <a:lstStyle/>
          <a:p>
            <a:pPr marL="0" indent="0" algn="ctr">
              <a:buNone/>
            </a:pPr>
            <a:r>
              <a:rPr lang="en-US" sz="2200" b="1" dirty="0">
                <a:solidFill>
                  <a:srgbClr val="C2873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715000" y="1783080"/>
            <a:ext cx="2971800" cy="1371600"/>
          </a:xfrm>
          <a:prstGeom prst="roundRect">
            <a:avLst>
              <a:gd name="adj" fmla="val 6667"/>
            </a:avLst>
          </a:prstGeom>
          <a:solidFill>
            <a:srgbClr val="6B4F3A"/>
          </a:solidFill>
          <a:ln/>
          <a:effectLst>
            <a:outerShdw blurRad="88900" dist="38100" dir="8100000" algn="bl" rotWithShape="0">
              <a:srgbClr val="000000">
                <a:alpha val="16000"/>
              </a:srgbClr>
            </a:outerShdw>
          </a:effectLst>
        </p:spPr>
        <p:txBody>
          <a:bodyPr/>
          <a:lstStyle/>
          <a:p>
            <a:endParaRPr lang="en-IL"/>
          </a:p>
        </p:txBody>
      </p:sp>
      <p:sp>
        <p:nvSpPr>
          <p:cNvPr id="13" name="Text 11"/>
          <p:cNvSpPr/>
          <p:nvPr/>
        </p:nvSpPr>
        <p:spPr>
          <a:xfrm>
            <a:off x="5715000" y="1783080"/>
            <a:ext cx="2971800" cy="1371600"/>
          </a:xfrm>
          <a:prstGeom prst="rect">
            <a:avLst/>
          </a:prstGeom>
          <a:noFill/>
          <a:ln/>
        </p:spPr>
        <p:txBody>
          <a:bodyPr wrap="square" lIns="0" tIns="0" rIns="0" bIns="0" rtlCol="0" anchor="ctr"/>
          <a:lstStyle/>
          <a:p>
            <a:pPr marL="0" indent="0" algn="ctr">
              <a:buNone/>
            </a:pPr>
            <a:r>
              <a:rPr lang="en-US" sz="1900" b="1" dirty="0">
                <a:solidFill>
                  <a:srgbClr val="F4EFE6"/>
                </a:solidFill>
                <a:latin typeface="Georgia" pitchFamily="34" charset="0"/>
                <a:ea typeface="Georgia" pitchFamily="34" charset="-122"/>
                <a:cs typeface="Georgia" pitchFamily="34" charset="-120"/>
              </a:rPr>
              <a:t>21-channel input</a:t>
            </a:r>
            <a:endParaRPr lang="en-US" sz="1900" dirty="0"/>
          </a:p>
          <a:p>
            <a:pPr marL="0" indent="0" algn="ctr">
              <a:buNone/>
            </a:pPr>
            <a:r>
              <a:rPr lang="en-US" sz="1200" dirty="0">
                <a:solidFill>
                  <a:srgbClr val="E8D9BE"/>
                </a:solidFill>
                <a:latin typeface="Calibri" pitchFamily="34" charset="0"/>
                <a:ea typeface="Calibri" pitchFamily="34" charset="-122"/>
                <a:cs typeface="Calibri" pitchFamily="34" charset="-120"/>
              </a:rPr>
              <a:t>ResNet 9-block generator</a:t>
            </a:r>
            <a:endParaRPr lang="en-US" sz="1900" dirty="0"/>
          </a:p>
        </p:txBody>
      </p:sp>
      <p:sp>
        <p:nvSpPr>
          <p:cNvPr id="14" name="Text 12"/>
          <p:cNvSpPr/>
          <p:nvPr/>
        </p:nvSpPr>
        <p:spPr>
          <a:xfrm>
            <a:off x="5669280" y="3383280"/>
            <a:ext cx="3063240" cy="1097280"/>
          </a:xfrm>
          <a:prstGeom prst="rect">
            <a:avLst/>
          </a:prstGeom>
          <a:noFill/>
          <a:ln/>
        </p:spPr>
        <p:txBody>
          <a:bodyPr wrap="square" lIns="0" tIns="0" rIns="0" bIns="0" rtlCol="0" anchor="ctr"/>
          <a:lstStyle/>
          <a:p>
            <a:pPr marL="0" indent="0">
              <a:buNone/>
            </a:pPr>
            <a:r>
              <a:rPr lang="en-US" sz="1150" i="1" dirty="0">
                <a:solidFill>
                  <a:srgbClr val="8A7E6E"/>
                </a:solidFill>
                <a:latin typeface="Calibri" pitchFamily="34" charset="0"/>
                <a:ea typeface="Calibri" pitchFamily="34" charset="-122"/>
                <a:cs typeface="Calibri" pitchFamily="34" charset="-120"/>
              </a:rPr>
              <a:t>Semantic + geometry tell the generator both what should be on each square and the true silhouette of every piece - derived at inference from the FEN alone.</a:t>
            </a:r>
            <a:endParaRPr lang="en-US" sz="115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03 · WHAT IS SPECIAL</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What makes us different</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7</a:t>
            </a:r>
            <a:endParaRPr lang="en-US" sz="900" dirty="0"/>
          </a:p>
        </p:txBody>
      </p:sp>
      <p:sp>
        <p:nvSpPr>
          <p:cNvPr id="17" name="Rounded Rectangle 16"/>
          <p:cNvSpPr/>
          <p:nvPr/>
        </p:nvSpPr>
        <p:spPr>
          <a:xfrm>
            <a:off x="548640" y="1554480"/>
            <a:ext cx="3794760" cy="1371600"/>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554480"/>
            <a:ext cx="3337560" cy="1371600"/>
          </a:xfrm>
          <a:prstGeom prst="rect">
            <a:avLst/>
          </a:prstGeom>
          <a:noFill/>
        </p:spPr>
        <p:txBody>
          <a:bodyPr wrap="square" lIns="0" tIns="0" rIns="0" bIns="0" anchor="ctr">
            <a:spAutoFit/>
          </a:bodyPr>
          <a:lstStyle/>
          <a:p>
            <a:pPr>
              <a:spcAft>
                <a:spcPts val="400"/>
              </a:spcAft>
            </a:pPr>
            <a:r>
              <a:rPr sz="1200" b="1" i="0" kern="0">
                <a:solidFill>
                  <a:srgbClr val="8A7E6E"/>
                </a:solidFill>
                <a:latin typeface="Calibri"/>
              </a:rPr>
              <a:t>Most other approaches</a:t>
            </a:r>
          </a:p>
          <a:p>
            <a:pPr>
              <a:spcAft>
                <a:spcPts val="500"/>
              </a:spcAft>
            </a:pPr>
            <a:r>
              <a:rPr sz="1500" b="1" i="0" kern="0">
                <a:solidFill>
                  <a:srgbClr val="2A2622"/>
                </a:solidFill>
                <a:latin typeface="Georgia"/>
              </a:rPr>
              <a:t>CycleGAN · CUT · Diffusion</a:t>
            </a:r>
          </a:p>
          <a:p>
            <a:pPr>
              <a:lnSpc>
                <a:spcPct val="112000"/>
              </a:lnSpc>
            </a:pPr>
            <a:r>
              <a:rPr sz="1100" b="0" i="0" kern="0">
                <a:solidFill>
                  <a:srgbClr val="8A7E6E"/>
                </a:solidFill>
                <a:latin typeface="Calibri"/>
              </a:rPr>
              <a:t>Unpaired or purely generative - strong style, but no built-in guarantee the exact position is kept.</a:t>
            </a:r>
          </a:p>
        </p:txBody>
      </p:sp>
      <p:sp>
        <p:nvSpPr>
          <p:cNvPr id="19" name="Rounded Rectangle 18"/>
          <p:cNvSpPr/>
          <p:nvPr/>
        </p:nvSpPr>
        <p:spPr>
          <a:xfrm>
            <a:off x="4800600" y="1554480"/>
            <a:ext cx="3794760" cy="1371600"/>
          </a:xfrm>
          <a:prstGeom prst="roundRect">
            <a:avLst>
              <a:gd name="adj" fmla="val 5517"/>
            </a:avLst>
          </a:prstGeom>
          <a:solidFill>
            <a:srgbClr val="F3E7D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1554480"/>
            <a:ext cx="3337560" cy="1371600"/>
          </a:xfrm>
          <a:prstGeom prst="rect">
            <a:avLst/>
          </a:prstGeom>
          <a:noFill/>
        </p:spPr>
        <p:txBody>
          <a:bodyPr wrap="square" lIns="0" tIns="0" rIns="0" bIns="0" anchor="ctr">
            <a:spAutoFit/>
          </a:bodyPr>
          <a:lstStyle/>
          <a:p>
            <a:pPr>
              <a:spcAft>
                <a:spcPts val="400"/>
              </a:spcAft>
            </a:pPr>
            <a:r>
              <a:rPr sz="1200" b="1" i="0" kern="0">
                <a:solidFill>
                  <a:srgbClr val="6B4F3A"/>
                </a:solidFill>
                <a:latin typeface="Calibri"/>
              </a:rPr>
              <a:t>Our approach</a:t>
            </a:r>
          </a:p>
          <a:p>
            <a:pPr>
              <a:spcAft>
                <a:spcPts val="500"/>
              </a:spcAft>
            </a:pPr>
            <a:r>
              <a:rPr sz="1500" b="1" i="0" kern="0">
                <a:solidFill>
                  <a:srgbClr val="6B4F3A"/>
                </a:solidFill>
                <a:latin typeface="Georgia"/>
              </a:rPr>
              <a:t>Paired, geometry-conditioned</a:t>
            </a:r>
          </a:p>
          <a:p>
            <a:pPr>
              <a:lnSpc>
                <a:spcPct val="112000"/>
              </a:lnSpc>
            </a:pPr>
            <a:r>
              <a:rPr sz="1100" b="0" i="0" kern="0">
                <a:solidFill>
                  <a:srgbClr val="8A7E6E"/>
                </a:solidFill>
                <a:latin typeface="Calibri"/>
              </a:rPr>
              <a:t>A direct penalty for changing the board, plus chess-specific geometry conditioning.</a:t>
            </a:r>
          </a:p>
        </p:txBody>
      </p:sp>
      <p:sp>
        <p:nvSpPr>
          <p:cNvPr id="21" name="TextBox 20"/>
          <p:cNvSpPr txBox="1"/>
          <p:nvPr/>
        </p:nvSpPr>
        <p:spPr>
          <a:xfrm>
            <a:off x="548640" y="3127248"/>
            <a:ext cx="8046720" cy="274320"/>
          </a:xfrm>
          <a:prstGeom prst="rect">
            <a:avLst/>
          </a:prstGeom>
          <a:noFill/>
        </p:spPr>
        <p:txBody>
          <a:bodyPr wrap="square" lIns="0" tIns="0" rIns="0" bIns="0">
            <a:spAutoFit/>
          </a:bodyPr>
          <a:lstStyle/>
          <a:p>
            <a:pPr algn="ctr"/>
            <a:r>
              <a:rPr sz="1200" b="0" i="1" kern="0">
                <a:solidFill>
                  <a:srgbClr val="2A2622"/>
                </a:solidFill>
                <a:latin typeface="Calibri"/>
              </a:rPr>
              <a:t>Four chess-specific ingredients set ours apart - the rest of this section:</a:t>
            </a:r>
          </a:p>
        </p:txBody>
      </p:sp>
      <p:sp>
        <p:nvSpPr>
          <p:cNvPr id="22" name="Rounded Rectangle 21"/>
          <p:cNvSpPr/>
          <p:nvPr/>
        </p:nvSpPr>
        <p:spPr>
          <a:xfrm>
            <a:off x="640080" y="3456432"/>
            <a:ext cx="1828800" cy="713232"/>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456432"/>
            <a:ext cx="1828800" cy="713232"/>
          </a:xfrm>
          <a:prstGeom prst="rect">
            <a:avLst/>
          </a:prstGeom>
          <a:noFill/>
        </p:spPr>
        <p:txBody>
          <a:bodyPr wrap="square" lIns="0" tIns="0" rIns="0" bIns="0" anchor="ctr">
            <a:spAutoFit/>
          </a:bodyPr>
          <a:lstStyle/>
          <a:p>
            <a:pPr algn="ctr">
              <a:spcAft>
                <a:spcPts val="100"/>
              </a:spcAft>
            </a:pPr>
            <a:r>
              <a:rPr sz="1050" b="1" i="0" kern="0">
                <a:solidFill>
                  <a:srgbClr val="2A2622"/>
                </a:solidFill>
                <a:latin typeface="Calibri"/>
              </a:rPr>
              <a:t>Camera-aligned</a:t>
            </a:r>
          </a:p>
          <a:p>
            <a:pPr algn="ctr"/>
            <a:r>
              <a:rPr sz="1050" b="1" i="0" kern="0">
                <a:solidFill>
                  <a:srgbClr val="2A2622"/>
                </a:solidFill>
                <a:latin typeface="Calibri"/>
              </a:rPr>
              <a:t>renders</a:t>
            </a:r>
          </a:p>
        </p:txBody>
      </p:sp>
      <p:sp>
        <p:nvSpPr>
          <p:cNvPr id="24" name="Rounded Rectangle 23"/>
          <p:cNvSpPr/>
          <p:nvPr/>
        </p:nvSpPr>
        <p:spPr>
          <a:xfrm>
            <a:off x="2651760" y="3456432"/>
            <a:ext cx="1828800" cy="713232"/>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51760" y="3456432"/>
            <a:ext cx="1828800" cy="713232"/>
          </a:xfrm>
          <a:prstGeom prst="rect">
            <a:avLst/>
          </a:prstGeom>
          <a:noFill/>
        </p:spPr>
        <p:txBody>
          <a:bodyPr wrap="square" lIns="0" tIns="0" rIns="0" bIns="0" anchor="ctr">
            <a:spAutoFit/>
          </a:bodyPr>
          <a:lstStyle/>
          <a:p>
            <a:pPr algn="ctr">
              <a:spcAft>
                <a:spcPts val="100"/>
              </a:spcAft>
            </a:pPr>
            <a:r>
              <a:rPr sz="1050" b="1" i="0" kern="0">
                <a:solidFill>
                  <a:srgbClr val="2A2622"/>
                </a:solidFill>
                <a:latin typeface="Calibri"/>
              </a:rPr>
              <a:t>Silhouette + geometry</a:t>
            </a:r>
          </a:p>
          <a:p>
            <a:pPr algn="ctr"/>
            <a:r>
              <a:rPr sz="1050" b="1" i="0" kern="0">
                <a:solidFill>
                  <a:srgbClr val="2A2622"/>
                </a:solidFill>
                <a:latin typeface="Calibri"/>
              </a:rPr>
              <a:t>conditioning</a:t>
            </a:r>
          </a:p>
        </p:txBody>
      </p:sp>
      <p:sp>
        <p:nvSpPr>
          <p:cNvPr id="26" name="Rounded Rectangle 25"/>
          <p:cNvSpPr/>
          <p:nvPr/>
        </p:nvSpPr>
        <p:spPr>
          <a:xfrm>
            <a:off x="4663440" y="3456432"/>
            <a:ext cx="1828800" cy="713232"/>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40" y="3456432"/>
            <a:ext cx="1828800" cy="713232"/>
          </a:xfrm>
          <a:prstGeom prst="rect">
            <a:avLst/>
          </a:prstGeom>
          <a:noFill/>
        </p:spPr>
        <p:txBody>
          <a:bodyPr wrap="square" lIns="0" tIns="0" rIns="0" bIns="0" anchor="ctr">
            <a:spAutoFit/>
          </a:bodyPr>
          <a:lstStyle/>
          <a:p>
            <a:pPr algn="ctr">
              <a:spcAft>
                <a:spcPts val="100"/>
              </a:spcAft>
            </a:pPr>
            <a:r>
              <a:rPr sz="1050" b="1" i="0" kern="0">
                <a:solidFill>
                  <a:srgbClr val="2A2622"/>
                </a:solidFill>
                <a:latin typeface="Calibri"/>
              </a:rPr>
              <a:t>Per-piece</a:t>
            </a:r>
          </a:p>
          <a:p>
            <a:pPr algn="ctr"/>
            <a:r>
              <a:rPr sz="1050" b="1" i="0" kern="0">
                <a:solidFill>
                  <a:srgbClr val="2A2622"/>
                </a:solidFill>
                <a:latin typeface="Calibri"/>
              </a:rPr>
              <a:t>discriminator</a:t>
            </a:r>
          </a:p>
        </p:txBody>
      </p:sp>
      <p:sp>
        <p:nvSpPr>
          <p:cNvPr id="28" name="Rounded Rectangle 27"/>
          <p:cNvSpPr/>
          <p:nvPr/>
        </p:nvSpPr>
        <p:spPr>
          <a:xfrm>
            <a:off x="6675120" y="3456432"/>
            <a:ext cx="1828800" cy="713232"/>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0" y="3456432"/>
            <a:ext cx="1828800" cy="713232"/>
          </a:xfrm>
          <a:prstGeom prst="rect">
            <a:avLst/>
          </a:prstGeom>
          <a:noFill/>
        </p:spPr>
        <p:txBody>
          <a:bodyPr wrap="square" lIns="0" tIns="0" rIns="0" bIns="0" anchor="ctr">
            <a:spAutoFit/>
          </a:bodyPr>
          <a:lstStyle/>
          <a:p>
            <a:pPr algn="ctr">
              <a:spcAft>
                <a:spcPts val="100"/>
              </a:spcAft>
            </a:pPr>
            <a:r>
              <a:rPr sz="1050" b="1" i="0" kern="0">
                <a:solidFill>
                  <a:srgbClr val="2A2622"/>
                </a:solidFill>
                <a:latin typeface="Calibri"/>
              </a:rPr>
              <a:t>Edge + contextual</a:t>
            </a:r>
          </a:p>
          <a:p>
            <a:pPr algn="ctr"/>
            <a:r>
              <a:rPr sz="1050" b="1" i="0" kern="0">
                <a:solidFill>
                  <a:srgbClr val="2A2622"/>
                </a:solidFill>
                <a:latin typeface="Calibri"/>
              </a:rPr>
              <a:t>losses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03 · WHAT IS SPECIAL</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From pix2pix to pix2pixHD</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8</a:t>
            </a:r>
            <a:endParaRPr lang="en-US" sz="900" dirty="0"/>
          </a:p>
        </p:txBody>
      </p:sp>
      <p:sp>
        <p:nvSpPr>
          <p:cNvPr id="17" name="Rounded Rectangle 16"/>
          <p:cNvSpPr/>
          <p:nvPr/>
        </p:nvSpPr>
        <p:spPr>
          <a:xfrm>
            <a:off x="548640" y="1737360"/>
            <a:ext cx="3794760" cy="1874519"/>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737360"/>
            <a:ext cx="3337560" cy="1874519"/>
          </a:xfrm>
          <a:prstGeom prst="rect">
            <a:avLst/>
          </a:prstGeom>
          <a:noFill/>
        </p:spPr>
        <p:txBody>
          <a:bodyPr wrap="square" lIns="0" tIns="0" rIns="0" bIns="0" anchor="ctr">
            <a:spAutoFit/>
          </a:bodyPr>
          <a:lstStyle/>
          <a:p>
            <a:pPr>
              <a:spcAft>
                <a:spcPts val="700"/>
              </a:spcAft>
            </a:pPr>
            <a:r>
              <a:rPr sz="1700" b="1" i="0" kern="0">
                <a:solidFill>
                  <a:srgbClr val="2A2622"/>
                </a:solidFill>
                <a:latin typeface="Georgia"/>
              </a:rPr>
              <a:t>pix2pix</a:t>
            </a:r>
          </a:p>
          <a:p>
            <a:pPr>
              <a:spcAft>
                <a:spcPts val="400"/>
              </a:spcAft>
            </a:pPr>
            <a:r>
              <a:rPr sz="1150" b="1" i="0" kern="0">
                <a:solidFill>
                  <a:srgbClr val="2A2622"/>
                </a:solidFill>
                <a:latin typeface="Calibri"/>
              </a:rPr>
              <a:t>Paired image-to-image translation</a:t>
            </a:r>
          </a:p>
          <a:p>
            <a:pPr>
              <a:lnSpc>
                <a:spcPct val="115000"/>
              </a:lnSpc>
            </a:pPr>
            <a:r>
              <a:rPr sz="1100" b="0" i="0" kern="0">
                <a:solidFill>
                  <a:srgbClr val="8A7E6E"/>
                </a:solidFill>
                <a:latin typeface="Calibri"/>
              </a:rPr>
              <a:t>A generator learns to map an input image to its matching target; a discriminator pushes the output to look real.</a:t>
            </a:r>
          </a:p>
        </p:txBody>
      </p:sp>
      <p:sp>
        <p:nvSpPr>
          <p:cNvPr id="19" name="Rounded Rectangle 18"/>
          <p:cNvSpPr/>
          <p:nvPr/>
        </p:nvSpPr>
        <p:spPr>
          <a:xfrm>
            <a:off x="4800600" y="1737360"/>
            <a:ext cx="3794760" cy="1874519"/>
          </a:xfrm>
          <a:prstGeom prst="roundRect">
            <a:avLst>
              <a:gd name="adj" fmla="val 5517"/>
            </a:avLst>
          </a:prstGeom>
          <a:solidFill>
            <a:srgbClr val="F3E7D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1737360"/>
            <a:ext cx="3337560" cy="1874519"/>
          </a:xfrm>
          <a:prstGeom prst="rect">
            <a:avLst/>
          </a:prstGeom>
          <a:noFill/>
        </p:spPr>
        <p:txBody>
          <a:bodyPr wrap="square" lIns="0" tIns="0" rIns="0" bIns="0" anchor="ctr">
            <a:spAutoFit/>
          </a:bodyPr>
          <a:lstStyle/>
          <a:p>
            <a:pPr>
              <a:spcAft>
                <a:spcPts val="700"/>
              </a:spcAft>
            </a:pPr>
            <a:r>
              <a:rPr sz="1700" b="1" i="0" kern="0">
                <a:solidFill>
                  <a:srgbClr val="6B4F3A"/>
                </a:solidFill>
                <a:latin typeface="Georgia"/>
              </a:rPr>
              <a:t>pix2pixHD</a:t>
            </a:r>
            <a:r>
              <a:rPr sz="1100" b="0" i="1" kern="0">
                <a:solidFill>
                  <a:srgbClr val="8A7E6E"/>
                </a:solidFill>
                <a:latin typeface="Calibri"/>
              </a:rPr>
              <a:t>   - what we use</a:t>
            </a:r>
          </a:p>
          <a:p>
            <a:pPr>
              <a:spcAft>
                <a:spcPts val="400"/>
              </a:spcAft>
            </a:pPr>
            <a:r>
              <a:rPr sz="1150" b="1" i="0" kern="0">
                <a:solidFill>
                  <a:srgbClr val="2A2622"/>
                </a:solidFill>
                <a:latin typeface="Calibri"/>
              </a:rPr>
              <a:t>Scales pix2pix to higher resolution</a:t>
            </a:r>
          </a:p>
          <a:p>
            <a:pPr>
              <a:lnSpc>
                <a:spcPct val="115000"/>
              </a:lnSpc>
            </a:pPr>
            <a:r>
              <a:rPr sz="1100" b="0" i="0" kern="0">
                <a:solidFill>
                  <a:srgbClr val="8A7E6E"/>
                </a:solidFill>
                <a:latin typeface="Calibri"/>
              </a:rPr>
              <a:t>Adds a multi-scale discriminator and a feature-matching loss → sharper, more stable, higher-detail outputs.</a:t>
            </a:r>
          </a:p>
        </p:txBody>
      </p:sp>
      <p:sp>
        <p:nvSpPr>
          <p:cNvPr id="21" name="TextBox 20"/>
          <p:cNvSpPr txBox="1"/>
          <p:nvPr/>
        </p:nvSpPr>
        <p:spPr>
          <a:xfrm>
            <a:off x="4370832" y="2450592"/>
            <a:ext cx="402336" cy="457200"/>
          </a:xfrm>
          <a:prstGeom prst="rect">
            <a:avLst/>
          </a:prstGeom>
          <a:noFill/>
        </p:spPr>
        <p:txBody>
          <a:bodyPr wrap="square" lIns="0" tIns="0" rIns="0" bIns="0">
            <a:spAutoFit/>
          </a:bodyPr>
          <a:lstStyle/>
          <a:p>
            <a:pPr algn="ctr"/>
            <a:r>
              <a:rPr sz="2200" b="1" i="0" kern="0">
                <a:solidFill>
                  <a:srgbClr val="C2873B"/>
                </a:solidFill>
                <a:latin typeface="Calibri"/>
              </a:rPr>
              <a:t>→</a:t>
            </a:r>
          </a:p>
        </p:txBody>
      </p:sp>
      <p:sp>
        <p:nvSpPr>
          <p:cNvPr id="22" name="TextBox 21"/>
          <p:cNvSpPr txBox="1"/>
          <p:nvPr/>
        </p:nvSpPr>
        <p:spPr>
          <a:xfrm>
            <a:off x="548640" y="4160520"/>
            <a:ext cx="8046720" cy="640080"/>
          </a:xfrm>
          <a:prstGeom prst="rect">
            <a:avLst/>
          </a:prstGeom>
          <a:noFill/>
        </p:spPr>
        <p:txBody>
          <a:bodyPr wrap="square" lIns="0" tIns="0" rIns="0" bIns="0">
            <a:spAutoFit/>
          </a:bodyPr>
          <a:lstStyle/>
          <a:p>
            <a:pPr algn="ctr">
              <a:lnSpc>
                <a:spcPct val="115000"/>
              </a:lnSpc>
            </a:pPr>
            <a:r>
              <a:rPr sz="1300" b="0" i="0" kern="0">
                <a:solidFill>
                  <a:srgbClr val="2A2622"/>
                </a:solidFill>
                <a:latin typeface="Calibri"/>
              </a:rPr>
              <a:t>Both are </a:t>
            </a:r>
            <a:r>
              <a:rPr sz="1300" b="1" i="0" kern="0">
                <a:solidFill>
                  <a:srgbClr val="6B4F3A"/>
                </a:solidFill>
                <a:latin typeface="Calibri"/>
              </a:rPr>
              <a:t>paired</a:t>
            </a:r>
            <a:r>
              <a:rPr sz="1300" b="0" i="0" kern="0">
                <a:solidFill>
                  <a:srgbClr val="2A2622"/>
                </a:solidFill>
                <a:latin typeface="Calibri"/>
              </a:rPr>
              <a:t> - trained against the exact matching photo, so the model is directly penalized for changing the board. CycleGAN-style methods are not.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03 · WHAT IS SPECIAL</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We judge every piece</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9</a:t>
            </a:r>
            <a:endParaRPr lang="en-US" sz="900" dirty="0"/>
          </a:p>
        </p:txBody>
      </p:sp>
      <p:sp>
        <p:nvSpPr>
          <p:cNvPr id="17" name="Rounded Rectangle 16"/>
          <p:cNvSpPr/>
          <p:nvPr/>
        </p:nvSpPr>
        <p:spPr>
          <a:xfrm>
            <a:off x="548640" y="1645920"/>
            <a:ext cx="3794760" cy="1600200"/>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645920"/>
            <a:ext cx="3337560" cy="1600200"/>
          </a:xfrm>
          <a:prstGeom prst="rect">
            <a:avLst/>
          </a:prstGeom>
          <a:noFill/>
        </p:spPr>
        <p:txBody>
          <a:bodyPr wrap="square" lIns="0" tIns="0" rIns="0" bIns="0" anchor="ctr">
            <a:spAutoFit/>
          </a:bodyPr>
          <a:lstStyle/>
          <a:p>
            <a:pPr>
              <a:spcAft>
                <a:spcPts val="600"/>
              </a:spcAft>
            </a:pPr>
            <a:r>
              <a:rPr sz="1400" b="1" i="0" kern="0">
                <a:solidFill>
                  <a:srgbClr val="2A2622"/>
                </a:solidFill>
                <a:latin typeface="Georgia"/>
              </a:rPr>
              <a:t>Board discriminator</a:t>
            </a:r>
            <a:r>
              <a:rPr sz="1050" b="0" i="1" kern="0">
                <a:solidFill>
                  <a:srgbClr val="8A7E6E"/>
                </a:solidFill>
                <a:latin typeface="Calibri"/>
              </a:rPr>
              <a:t>  (multi-scale)</a:t>
            </a:r>
          </a:p>
          <a:p>
            <a:pPr>
              <a:lnSpc>
                <a:spcPct val="115000"/>
              </a:lnSpc>
            </a:pPr>
            <a:r>
              <a:rPr sz="1100" b="0" i="0" kern="0">
                <a:solidFill>
                  <a:srgbClr val="8A7E6E"/>
                </a:solidFill>
                <a:latin typeface="Calibri"/>
              </a:rPr>
              <a:t>Judges the whole image at two zoom levels - overall realism: texture, lighting and global structure.</a:t>
            </a:r>
          </a:p>
        </p:txBody>
      </p:sp>
      <p:sp>
        <p:nvSpPr>
          <p:cNvPr id="19" name="Rounded Rectangle 18"/>
          <p:cNvSpPr/>
          <p:nvPr/>
        </p:nvSpPr>
        <p:spPr>
          <a:xfrm>
            <a:off x="4800600" y="1645920"/>
            <a:ext cx="3794760" cy="1600200"/>
          </a:xfrm>
          <a:prstGeom prst="roundRect">
            <a:avLst>
              <a:gd name="adj" fmla="val 5517"/>
            </a:avLst>
          </a:prstGeom>
          <a:solidFill>
            <a:srgbClr val="F3E7D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1645920"/>
            <a:ext cx="3337560" cy="1600200"/>
          </a:xfrm>
          <a:prstGeom prst="rect">
            <a:avLst/>
          </a:prstGeom>
          <a:noFill/>
        </p:spPr>
        <p:txBody>
          <a:bodyPr wrap="square" lIns="0" tIns="0" rIns="0" bIns="0" anchor="ctr">
            <a:spAutoFit/>
          </a:bodyPr>
          <a:lstStyle/>
          <a:p>
            <a:pPr>
              <a:spcAft>
                <a:spcPts val="600"/>
              </a:spcAft>
            </a:pPr>
            <a:r>
              <a:rPr sz="1400" b="1" i="0" kern="0">
                <a:solidFill>
                  <a:srgbClr val="6B4F3A"/>
                </a:solidFill>
                <a:latin typeface="Georgia"/>
              </a:rPr>
              <a:t>Piece discriminator</a:t>
            </a:r>
            <a:r>
              <a:rPr sz="1050" b="0" i="1" kern="0">
                <a:solidFill>
                  <a:srgbClr val="8A7E6E"/>
                </a:solidFill>
                <a:latin typeface="Calibri"/>
              </a:rPr>
              <a:t>  (class-conditional)</a:t>
            </a:r>
          </a:p>
          <a:p>
            <a:pPr>
              <a:lnSpc>
                <a:spcPct val="115000"/>
              </a:lnSpc>
            </a:pPr>
            <a:r>
              <a:rPr sz="1100" b="0" i="0" kern="0">
                <a:solidFill>
                  <a:srgbClr val="8A7E6E"/>
                </a:solidFill>
                <a:latin typeface="Calibri"/>
              </a:rPr>
              <a:t>Zooms into each occupied square and asks: is this the correct piece type? Pressure exactly where blurry blobs appear.</a:t>
            </a:r>
          </a:p>
        </p:txBody>
      </p:sp>
      <p:sp>
        <p:nvSpPr>
          <p:cNvPr id="21" name="TextBox 20"/>
          <p:cNvSpPr txBox="1"/>
          <p:nvPr/>
        </p:nvSpPr>
        <p:spPr>
          <a:xfrm>
            <a:off x="548640" y="3611880"/>
            <a:ext cx="8046720" cy="868680"/>
          </a:xfrm>
          <a:prstGeom prst="rect">
            <a:avLst/>
          </a:prstGeom>
          <a:noFill/>
        </p:spPr>
        <p:txBody>
          <a:bodyPr wrap="square" lIns="0" tIns="0" rIns="0" bIns="0">
            <a:spAutoFit/>
          </a:bodyPr>
          <a:lstStyle/>
          <a:p>
            <a:pPr algn="ctr">
              <a:lnSpc>
                <a:spcPct val="118000"/>
              </a:lnSpc>
            </a:pPr>
            <a:r>
              <a:rPr sz="1250" b="0" i="0" kern="0">
                <a:solidFill>
                  <a:srgbClr val="2A2622"/>
                </a:solidFill>
                <a:latin typeface="Calibri"/>
              </a:rPr>
              <a:t>Plus targeted losses: a </a:t>
            </a:r>
            <a:r>
              <a:rPr sz="1250" b="1" i="0" kern="0">
                <a:solidFill>
                  <a:srgbClr val="6B4F3A"/>
                </a:solidFill>
                <a:latin typeface="Calibri"/>
              </a:rPr>
              <a:t>silhouette-edge loss</a:t>
            </a:r>
            <a:r>
              <a:rPr sz="1250" b="0" i="0" kern="0">
                <a:solidFill>
                  <a:srgbClr val="2A2622"/>
                </a:solidFill>
                <a:latin typeface="Calibri"/>
              </a:rPr>
              <a:t> for crisp outlines and a </a:t>
            </a:r>
            <a:r>
              <a:rPr sz="1250" b="1" i="0" kern="0">
                <a:solidFill>
                  <a:srgbClr val="6B4F3A"/>
                </a:solidFill>
                <a:latin typeface="Calibri"/>
              </a:rPr>
              <a:t>contextual loss</a:t>
            </a:r>
            <a:r>
              <a:rPr sz="1250" b="0" i="0" kern="0">
                <a:solidFill>
                  <a:srgbClr val="2A2622"/>
                </a:solidFill>
                <a:latin typeface="Calibri"/>
              </a:rPr>
              <a:t> that tolerates 3-D parallax - keeping pieces sharp without forcing pixel-perfect blur.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04 · KEY INSIGHT</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Camera geometry decided everything</a:t>
            </a:r>
            <a:endParaRPr lang="en-US" sz="3000" dirty="0"/>
          </a:p>
        </p:txBody>
      </p:sp>
      <p:sp>
        <p:nvSpPr>
          <p:cNvPr id="5" name="Shape 3"/>
          <p:cNvSpPr/>
          <p:nvPr/>
        </p:nvSpPr>
        <p:spPr>
          <a:xfrm>
            <a:off x="566928" y="1600200"/>
            <a:ext cx="3886200" cy="1874520"/>
          </a:xfrm>
          <a:prstGeom prst="rect">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6" name="Shape 4"/>
          <p:cNvSpPr/>
          <p:nvPr/>
        </p:nvSpPr>
        <p:spPr>
          <a:xfrm>
            <a:off x="566928" y="1600200"/>
            <a:ext cx="91440" cy="1874520"/>
          </a:xfrm>
          <a:prstGeom prst="rect">
            <a:avLst/>
          </a:prstGeom>
          <a:solidFill>
            <a:srgbClr val="9C5B3B"/>
          </a:solidFill>
          <a:ln/>
        </p:spPr>
        <p:txBody>
          <a:bodyPr/>
          <a:lstStyle/>
          <a:p>
            <a:endParaRPr lang="en-IL"/>
          </a:p>
        </p:txBody>
      </p:sp>
      <p:sp>
        <p:nvSpPr>
          <p:cNvPr id="7" name="Text 5"/>
          <p:cNvSpPr/>
          <p:nvPr/>
        </p:nvSpPr>
        <p:spPr>
          <a:xfrm>
            <a:off x="868680" y="1737360"/>
            <a:ext cx="3383280" cy="1645920"/>
          </a:xfrm>
          <a:prstGeom prst="rect">
            <a:avLst/>
          </a:prstGeom>
          <a:noFill/>
          <a:ln/>
        </p:spPr>
        <p:txBody>
          <a:bodyPr wrap="square" lIns="0" tIns="0" rIns="0" bIns="0" rtlCol="0" anchor="ctr"/>
          <a:lstStyle/>
          <a:p>
            <a:pPr marL="0" indent="0">
              <a:spcAft>
                <a:spcPts val="600"/>
              </a:spcAft>
              <a:buNone/>
            </a:pPr>
            <a:r>
              <a:rPr lang="en-US" sz="1200" b="1" kern="0" spc="200" dirty="0">
                <a:solidFill>
                  <a:srgbClr val="9C5B3B"/>
                </a:solidFill>
                <a:latin typeface="Calibri" pitchFamily="34" charset="0"/>
                <a:ea typeface="Calibri" pitchFamily="34" charset="-122"/>
                <a:cs typeface="Calibri" pitchFamily="34" charset="-120"/>
              </a:rPr>
              <a:t>REJECTED</a:t>
            </a:r>
            <a:endParaRPr lang="en-US" sz="1200" dirty="0"/>
          </a:p>
          <a:p>
            <a:pPr marL="0" indent="0">
              <a:spcAft>
                <a:spcPts val="600"/>
              </a:spcAft>
              <a:buNone/>
            </a:pPr>
            <a:r>
              <a:rPr lang="en-US" sz="2200" b="1" dirty="0">
                <a:solidFill>
                  <a:srgbClr val="2A2622"/>
                </a:solidFill>
                <a:latin typeface="Georgia" pitchFamily="34" charset="0"/>
                <a:ea typeface="Georgia" pitchFamily="34" charset="-122"/>
                <a:cs typeface="Georgia" pitchFamily="34" charset="-120"/>
              </a:rPr>
              <a:t>54.9° global elevation</a:t>
            </a:r>
            <a:endParaRPr lang="en-US" sz="1200" dirty="0"/>
          </a:p>
          <a:p>
            <a:pPr marL="0" indent="0">
              <a:spcAft>
                <a:spcPts val="600"/>
              </a:spcAft>
              <a:buNone/>
            </a:pPr>
            <a:r>
              <a:rPr lang="en-US" sz="1250" dirty="0">
                <a:solidFill>
                  <a:srgbClr val="6B4F3A"/>
                </a:solidFill>
                <a:latin typeface="Calibri" pitchFamily="34" charset="0"/>
                <a:ea typeface="Calibri" pitchFamily="34" charset="-122"/>
                <a:cs typeface="Calibri" pitchFamily="34" charset="-120"/>
              </a:rPr>
              <a:t>too top-down - synthetic pieces don't match the real photos</a:t>
            </a:r>
            <a:endParaRPr lang="en-US" sz="1200" dirty="0"/>
          </a:p>
        </p:txBody>
      </p:sp>
      <p:sp>
        <p:nvSpPr>
          <p:cNvPr id="8" name="Shape 6"/>
          <p:cNvSpPr/>
          <p:nvPr/>
        </p:nvSpPr>
        <p:spPr>
          <a:xfrm>
            <a:off x="4690872" y="1600200"/>
            <a:ext cx="3886200" cy="1874520"/>
          </a:xfrm>
          <a:prstGeom prst="rect">
            <a:avLst/>
          </a:prstGeom>
          <a:solidFill>
            <a:srgbClr val="F3E7D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9" name="Shape 7"/>
          <p:cNvSpPr/>
          <p:nvPr/>
        </p:nvSpPr>
        <p:spPr>
          <a:xfrm>
            <a:off x="4690872" y="1600200"/>
            <a:ext cx="91440" cy="1874520"/>
          </a:xfrm>
          <a:prstGeom prst="rect">
            <a:avLst/>
          </a:prstGeom>
          <a:solidFill>
            <a:srgbClr val="C2873B"/>
          </a:solidFill>
          <a:ln/>
        </p:spPr>
        <p:txBody>
          <a:bodyPr/>
          <a:lstStyle/>
          <a:p>
            <a:endParaRPr lang="en-IL"/>
          </a:p>
        </p:txBody>
      </p:sp>
      <p:sp>
        <p:nvSpPr>
          <p:cNvPr id="10" name="Text 8"/>
          <p:cNvSpPr/>
          <p:nvPr/>
        </p:nvSpPr>
        <p:spPr>
          <a:xfrm>
            <a:off x="4992624" y="1737360"/>
            <a:ext cx="3383280" cy="1645920"/>
          </a:xfrm>
          <a:prstGeom prst="rect">
            <a:avLst/>
          </a:prstGeom>
          <a:noFill/>
          <a:ln/>
        </p:spPr>
        <p:txBody>
          <a:bodyPr wrap="square" lIns="0" tIns="0" rIns="0" bIns="0" rtlCol="0" anchor="ctr"/>
          <a:lstStyle/>
          <a:p>
            <a:pPr marL="0" indent="0">
              <a:spcAft>
                <a:spcPts val="600"/>
              </a:spcAft>
              <a:buNone/>
            </a:pPr>
            <a:r>
              <a:rPr lang="en-US" sz="1200" b="1" kern="0" spc="200" dirty="0">
                <a:solidFill>
                  <a:srgbClr val="C2873B"/>
                </a:solidFill>
                <a:latin typeface="Calibri" pitchFamily="34" charset="0"/>
                <a:ea typeface="Calibri" pitchFamily="34" charset="-122"/>
                <a:cs typeface="Calibri" pitchFamily="34" charset="-120"/>
              </a:rPr>
              <a:t>FINAL</a:t>
            </a:r>
            <a:endParaRPr lang="en-US" sz="1200" dirty="0"/>
          </a:p>
          <a:p>
            <a:pPr marL="0" indent="0">
              <a:spcAft>
                <a:spcPts val="600"/>
              </a:spcAft>
              <a:buNone/>
            </a:pPr>
            <a:r>
              <a:rPr lang="en-US" sz="2200" b="1" dirty="0">
                <a:solidFill>
                  <a:srgbClr val="2A2622"/>
                </a:solidFill>
                <a:latin typeface="Georgia" pitchFamily="34" charset="0"/>
                <a:ea typeface="Georgia" pitchFamily="34" charset="-122"/>
                <a:cs typeface="Georgia" pitchFamily="34" charset="-120"/>
              </a:rPr>
              <a:t>40.7° per-game (38–44°)</a:t>
            </a:r>
            <a:endParaRPr lang="en-US" sz="1200" dirty="0"/>
          </a:p>
          <a:p>
            <a:pPr marL="0" indent="0">
              <a:spcAft>
                <a:spcPts val="600"/>
              </a:spcAft>
              <a:buNone/>
            </a:pPr>
            <a:r>
              <a:rPr lang="en-US" sz="1250" dirty="0">
                <a:solidFill>
                  <a:srgbClr val="6B4F3A"/>
                </a:solidFill>
                <a:latin typeface="Calibri" pitchFamily="34" charset="0"/>
                <a:ea typeface="Calibri" pitchFamily="34" charset="-122"/>
                <a:cs typeface="Calibri" pitchFamily="34" charset="-120"/>
              </a:rPr>
              <a:t>matches the real board photographs</a:t>
            </a:r>
            <a:endParaRPr lang="en-US" sz="1200" dirty="0"/>
          </a:p>
        </p:txBody>
      </p:sp>
      <p:sp>
        <p:nvSpPr>
          <p:cNvPr id="11" name="Text 9"/>
          <p:cNvSpPr/>
          <p:nvPr/>
        </p:nvSpPr>
        <p:spPr>
          <a:xfrm>
            <a:off x="566928" y="3794760"/>
            <a:ext cx="8001000" cy="548640"/>
          </a:xfrm>
          <a:prstGeom prst="rect">
            <a:avLst/>
          </a:prstGeom>
          <a:noFill/>
          <a:ln/>
        </p:spPr>
        <p:txBody>
          <a:bodyPr wrap="square" lIns="0" tIns="0" rIns="0" bIns="0" rtlCol="0" anchor="ctr"/>
          <a:lstStyle/>
          <a:p>
            <a:pPr marL="0" indent="0" algn="ctr">
              <a:buNone/>
            </a:pPr>
            <a:r>
              <a:rPr lang="en-US" sz="1400" i="1" dirty="0">
                <a:solidFill>
                  <a:srgbClr val="6B4F3A"/>
                </a:solidFill>
                <a:latin typeface="Calibri" pitchFamily="34" charset="0"/>
                <a:ea typeface="Calibri" pitchFamily="34" charset="-122"/>
                <a:cs typeface="Calibri" pitchFamily="34" charset="-120"/>
              </a:rPr>
              <a:t>Aligning the synthetic camera to the real photos shrank the domain gap more than any loss tuning.</a:t>
            </a:r>
            <a:endParaRPr lang="en-US" sz="1400" dirty="0"/>
          </a:p>
        </p:txBody>
      </p:sp>
      <p:sp>
        <p:nvSpPr>
          <p:cNvPr id="12" name="Text 10"/>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3" name="Text 11"/>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05 · RESULTS</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From synthetic to realistic</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11</a:t>
            </a:r>
            <a:endParaRPr lang="en-US" sz="900" dirty="0"/>
          </a:p>
        </p:txBody>
      </p:sp>
      <p:sp>
        <p:nvSpPr>
          <p:cNvPr id="17" name="TextBox 16"/>
          <p:cNvSpPr txBox="1"/>
          <p:nvPr/>
        </p:nvSpPr>
        <p:spPr>
          <a:xfrm>
            <a:off x="617220" y="1335024"/>
            <a:ext cx="2331720" cy="274320"/>
          </a:xfrm>
          <a:prstGeom prst="rect">
            <a:avLst/>
          </a:prstGeom>
          <a:noFill/>
        </p:spPr>
        <p:txBody>
          <a:bodyPr wrap="square" lIns="0" tIns="0" rIns="0" bIns="0">
            <a:spAutoFit/>
          </a:bodyPr>
          <a:lstStyle/>
          <a:p>
            <a:pPr algn="ctr"/>
            <a:r>
              <a:rPr sz="1300" b="1" i="0" kern="0">
                <a:solidFill>
                  <a:srgbClr val="2A2622"/>
                </a:solidFill>
                <a:latin typeface="Calibri"/>
              </a:rPr>
              <a:t>Synthetic input</a:t>
            </a:r>
          </a:p>
        </p:txBody>
      </p:sp>
      <p:pic>
        <p:nvPicPr>
          <p:cNvPr id="18" name="Picture 17" descr="hero_synth.png"/>
          <p:cNvPicPr>
            <a:picLocks noChangeAspect="1"/>
          </p:cNvPicPr>
          <p:nvPr/>
        </p:nvPicPr>
        <p:blipFill>
          <a:blip r:embed="rId3"/>
          <a:stretch>
            <a:fillRect/>
          </a:stretch>
        </p:blipFill>
        <p:spPr>
          <a:xfrm>
            <a:off x="617220" y="1627632"/>
            <a:ext cx="2331720" cy="2480842"/>
          </a:xfrm>
          <a:prstGeom prst="rect">
            <a:avLst/>
          </a:prstGeom>
        </p:spPr>
      </p:pic>
      <p:sp>
        <p:nvSpPr>
          <p:cNvPr id="19" name="TextBox 18"/>
          <p:cNvSpPr txBox="1"/>
          <p:nvPr/>
        </p:nvSpPr>
        <p:spPr>
          <a:xfrm>
            <a:off x="3406140" y="1335024"/>
            <a:ext cx="2331720" cy="274320"/>
          </a:xfrm>
          <a:prstGeom prst="rect">
            <a:avLst/>
          </a:prstGeom>
          <a:noFill/>
        </p:spPr>
        <p:txBody>
          <a:bodyPr wrap="square" lIns="0" tIns="0" rIns="0" bIns="0">
            <a:spAutoFit/>
          </a:bodyPr>
          <a:lstStyle/>
          <a:p>
            <a:pPr algn="ctr"/>
            <a:r>
              <a:rPr sz="1300" b="1" i="0" kern="0">
                <a:solidFill>
                  <a:srgbClr val="6B4F3A"/>
                </a:solidFill>
                <a:latin typeface="Calibri"/>
              </a:rPr>
              <a:t>Our realistic output</a:t>
            </a:r>
          </a:p>
        </p:txBody>
      </p:sp>
      <p:pic>
        <p:nvPicPr>
          <p:cNvPr id="20" name="Picture 19" descr="hero_out.png"/>
          <p:cNvPicPr>
            <a:picLocks noChangeAspect="1"/>
          </p:cNvPicPr>
          <p:nvPr/>
        </p:nvPicPr>
        <p:blipFill>
          <a:blip r:embed="rId4"/>
          <a:stretch>
            <a:fillRect/>
          </a:stretch>
        </p:blipFill>
        <p:spPr>
          <a:xfrm>
            <a:off x="3406140" y="1627632"/>
            <a:ext cx="2331720" cy="2480842"/>
          </a:xfrm>
          <a:prstGeom prst="rect">
            <a:avLst/>
          </a:prstGeom>
        </p:spPr>
      </p:pic>
      <p:sp>
        <p:nvSpPr>
          <p:cNvPr id="21" name="TextBox 20"/>
          <p:cNvSpPr txBox="1"/>
          <p:nvPr/>
        </p:nvSpPr>
        <p:spPr>
          <a:xfrm>
            <a:off x="6195060" y="1335024"/>
            <a:ext cx="2331720" cy="274320"/>
          </a:xfrm>
          <a:prstGeom prst="rect">
            <a:avLst/>
          </a:prstGeom>
          <a:noFill/>
        </p:spPr>
        <p:txBody>
          <a:bodyPr wrap="square" lIns="0" tIns="0" rIns="0" bIns="0">
            <a:spAutoFit/>
          </a:bodyPr>
          <a:lstStyle/>
          <a:p>
            <a:pPr algn="ctr"/>
            <a:r>
              <a:rPr sz="1300" b="1" i="0" kern="0">
                <a:solidFill>
                  <a:srgbClr val="8A7E6E"/>
                </a:solidFill>
                <a:latin typeface="Calibri"/>
              </a:rPr>
              <a:t>Real photo</a:t>
            </a:r>
          </a:p>
        </p:txBody>
      </p:sp>
      <p:pic>
        <p:nvPicPr>
          <p:cNvPr id="22" name="Picture 21" descr="hero_real.png"/>
          <p:cNvPicPr>
            <a:picLocks noChangeAspect="1"/>
          </p:cNvPicPr>
          <p:nvPr/>
        </p:nvPicPr>
        <p:blipFill>
          <a:blip r:embed="rId5"/>
          <a:stretch>
            <a:fillRect/>
          </a:stretch>
        </p:blipFill>
        <p:spPr>
          <a:xfrm>
            <a:off x="6195060" y="1627632"/>
            <a:ext cx="2331720" cy="2480842"/>
          </a:xfrm>
          <a:prstGeom prst="rect">
            <a:avLst/>
          </a:prstGeom>
        </p:spPr>
      </p:pic>
      <p:sp>
        <p:nvSpPr>
          <p:cNvPr id="23" name="TextBox 22"/>
          <p:cNvSpPr txBox="1"/>
          <p:nvPr/>
        </p:nvSpPr>
        <p:spPr>
          <a:xfrm>
            <a:off x="2967228" y="2514600"/>
            <a:ext cx="420624" cy="457200"/>
          </a:xfrm>
          <a:prstGeom prst="rect">
            <a:avLst/>
          </a:prstGeom>
          <a:noFill/>
        </p:spPr>
        <p:txBody>
          <a:bodyPr wrap="square" lIns="0" tIns="0" rIns="0" bIns="0">
            <a:spAutoFit/>
          </a:bodyPr>
          <a:lstStyle/>
          <a:p>
            <a:pPr algn="ctr"/>
            <a:r>
              <a:rPr sz="2200" b="1" i="0" kern="0">
                <a:solidFill>
                  <a:srgbClr val="C2873B"/>
                </a:solidFill>
                <a:latin typeface="Calibri"/>
              </a:rPr>
              <a:t>→</a:t>
            </a:r>
          </a:p>
        </p:txBody>
      </p:sp>
      <p:sp>
        <p:nvSpPr>
          <p:cNvPr id="24" name="TextBox 23"/>
          <p:cNvSpPr txBox="1"/>
          <p:nvPr/>
        </p:nvSpPr>
        <p:spPr>
          <a:xfrm>
            <a:off x="548640" y="4224528"/>
            <a:ext cx="8046720" cy="548640"/>
          </a:xfrm>
          <a:prstGeom prst="rect">
            <a:avLst/>
          </a:prstGeom>
          <a:noFill/>
        </p:spPr>
        <p:txBody>
          <a:bodyPr wrap="square" lIns="0" tIns="0" rIns="0" bIns="0">
            <a:spAutoFit/>
          </a:bodyPr>
          <a:lstStyle/>
          <a:p>
            <a:pPr algn="ctr">
              <a:lnSpc>
                <a:spcPct val="115000"/>
              </a:lnSpc>
            </a:pPr>
            <a:r>
              <a:rPr sz="1300" b="0" i="0" kern="0">
                <a:solidFill>
                  <a:srgbClr val="2A2622"/>
                </a:solidFill>
                <a:latin typeface="Calibri"/>
              </a:rPr>
              <a:t>A flat grey render becomes a wooden board that matches the real photo - </a:t>
            </a:r>
            <a:r>
              <a:rPr sz="1300" b="1" i="0" kern="0">
                <a:solidFill>
                  <a:srgbClr val="6B4F3A"/>
                </a:solidFill>
                <a:latin typeface="Calibri"/>
              </a:rPr>
              <a:t>same pieces, same squares.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05 · RESULTS</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140 held-out boards (game 2)</a:t>
            </a:r>
            <a:endParaRPr lang="en-US" sz="3000" dirty="0"/>
          </a:p>
        </p:txBody>
      </p:sp>
      <p:sp>
        <p:nvSpPr>
          <p:cNvPr id="5" name="Shape 3"/>
          <p:cNvSpPr/>
          <p:nvPr/>
        </p:nvSpPr>
        <p:spPr>
          <a:xfrm>
            <a:off x="704088" y="1444752"/>
            <a:ext cx="2651760" cy="3072384"/>
          </a:xfrm>
          <a:prstGeom prst="rect">
            <a:avLst/>
          </a:prstGeom>
          <a:solidFill>
            <a:srgbClr val="FFFFFF"/>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pic>
        <p:nvPicPr>
          <p:cNvPr id="6" name="Image 0" descr="/Users/rnpqlr/Desktop/empty/dl project/v5_work/report_final_qualitative.png"/>
          <p:cNvPicPr>
            <a:picLocks noChangeAspect="1"/>
          </p:cNvPicPr>
          <p:nvPr/>
        </p:nvPicPr>
        <p:blipFill>
          <a:blip r:embed="rId3"/>
          <a:stretch>
            <a:fillRect/>
          </a:stretch>
        </p:blipFill>
        <p:spPr>
          <a:xfrm>
            <a:off x="777240" y="1517904"/>
            <a:ext cx="2505456" cy="2926080"/>
          </a:xfrm>
          <a:prstGeom prst="rect">
            <a:avLst/>
          </a:prstGeom>
        </p:spPr>
      </p:pic>
      <p:sp>
        <p:nvSpPr>
          <p:cNvPr id="7" name="Shape 4"/>
          <p:cNvSpPr/>
          <p:nvPr/>
        </p:nvSpPr>
        <p:spPr>
          <a:xfrm>
            <a:off x="3703320" y="1481328"/>
            <a:ext cx="4892040" cy="786384"/>
          </a:xfrm>
          <a:prstGeom prst="rect">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8" name="Text 5"/>
          <p:cNvSpPr/>
          <p:nvPr/>
        </p:nvSpPr>
        <p:spPr>
          <a:xfrm>
            <a:off x="3840480" y="1481328"/>
            <a:ext cx="1371600" cy="786384"/>
          </a:xfrm>
          <a:prstGeom prst="rect">
            <a:avLst/>
          </a:prstGeom>
          <a:noFill/>
          <a:ln/>
        </p:spPr>
        <p:txBody>
          <a:bodyPr wrap="square" lIns="0" tIns="0" rIns="0" bIns="0" rtlCol="0" anchor="ctr"/>
          <a:lstStyle/>
          <a:p>
            <a:pPr marL="0" indent="0">
              <a:buNone/>
            </a:pPr>
            <a:r>
              <a:rPr lang="en-US" sz="3000" b="1" dirty="0">
                <a:solidFill>
                  <a:srgbClr val="6B4F3A"/>
                </a:solidFill>
                <a:latin typeface="Georgia" pitchFamily="34" charset="0"/>
                <a:ea typeface="Georgia" pitchFamily="34" charset="-122"/>
                <a:cs typeface="Georgia" pitchFamily="34" charset="-120"/>
              </a:rPr>
              <a:t>0.99</a:t>
            </a:r>
            <a:endParaRPr lang="en-US" sz="3000" dirty="0"/>
          </a:p>
        </p:txBody>
      </p:sp>
      <p:sp>
        <p:nvSpPr>
          <p:cNvPr id="9" name="Text 6"/>
          <p:cNvSpPr/>
          <p:nvPr/>
        </p:nvSpPr>
        <p:spPr>
          <a:xfrm>
            <a:off x="5212080" y="1481328"/>
            <a:ext cx="3246120" cy="786384"/>
          </a:xfrm>
          <a:prstGeom prst="rect">
            <a:avLst/>
          </a:prstGeom>
          <a:noFill/>
          <a:ln/>
        </p:spPr>
        <p:txBody>
          <a:bodyPr wrap="square" lIns="0" tIns="0" rIns="0" bIns="0" rtlCol="0" anchor="ctr"/>
          <a:lstStyle/>
          <a:p>
            <a:pPr marL="0" indent="0">
              <a:buNone/>
            </a:pPr>
            <a:r>
              <a:rPr lang="en-US" sz="1400" dirty="0">
                <a:solidFill>
                  <a:srgbClr val="2A2622"/>
                </a:solidFill>
                <a:latin typeface="Calibri" pitchFamily="34" charset="0"/>
                <a:ea typeface="Calibri" pitchFamily="34" charset="-122"/>
                <a:cs typeface="Calibri" pitchFamily="34" charset="-120"/>
              </a:rPr>
              <a:t>occupancy accuracy</a:t>
            </a:r>
            <a:endParaRPr lang="en-US" sz="1400" dirty="0"/>
          </a:p>
        </p:txBody>
      </p:sp>
      <p:sp>
        <p:nvSpPr>
          <p:cNvPr id="10" name="Shape 7"/>
          <p:cNvSpPr/>
          <p:nvPr/>
        </p:nvSpPr>
        <p:spPr>
          <a:xfrm>
            <a:off x="3703320" y="2395728"/>
            <a:ext cx="4892040" cy="786384"/>
          </a:xfrm>
          <a:prstGeom prst="rect">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11" name="Text 8"/>
          <p:cNvSpPr/>
          <p:nvPr/>
        </p:nvSpPr>
        <p:spPr>
          <a:xfrm>
            <a:off x="3840480" y="2395728"/>
            <a:ext cx="1371600" cy="786384"/>
          </a:xfrm>
          <a:prstGeom prst="rect">
            <a:avLst/>
          </a:prstGeom>
          <a:noFill/>
          <a:ln/>
        </p:spPr>
        <p:txBody>
          <a:bodyPr wrap="square" lIns="0" tIns="0" rIns="0" bIns="0" rtlCol="0" anchor="ctr"/>
          <a:lstStyle/>
          <a:p>
            <a:pPr marL="0" indent="0">
              <a:buNone/>
            </a:pPr>
            <a:r>
              <a:rPr lang="en-US" sz="3000" b="1" dirty="0">
                <a:solidFill>
                  <a:srgbClr val="6B4F3A"/>
                </a:solidFill>
                <a:latin typeface="Georgia" pitchFamily="34" charset="0"/>
                <a:ea typeface="Georgia" pitchFamily="34" charset="-122"/>
                <a:cs typeface="Georgia" pitchFamily="34" charset="-120"/>
              </a:rPr>
              <a:t>0.92</a:t>
            </a:r>
            <a:endParaRPr lang="en-US" sz="3000" dirty="0"/>
          </a:p>
        </p:txBody>
      </p:sp>
      <p:sp>
        <p:nvSpPr>
          <p:cNvPr id="12" name="Text 9"/>
          <p:cNvSpPr/>
          <p:nvPr/>
        </p:nvSpPr>
        <p:spPr>
          <a:xfrm>
            <a:off x="5212080" y="2395728"/>
            <a:ext cx="3246120" cy="786384"/>
          </a:xfrm>
          <a:prstGeom prst="rect">
            <a:avLst/>
          </a:prstGeom>
          <a:noFill/>
          <a:ln/>
        </p:spPr>
        <p:txBody>
          <a:bodyPr wrap="square" lIns="0" tIns="0" rIns="0" bIns="0" rtlCol="0" anchor="ctr"/>
          <a:lstStyle/>
          <a:p>
            <a:pPr marL="0" indent="0">
              <a:buNone/>
            </a:pPr>
            <a:r>
              <a:rPr lang="en-US" sz="1400" dirty="0">
                <a:solidFill>
                  <a:srgbClr val="2A2622"/>
                </a:solidFill>
                <a:latin typeface="Calibri" pitchFamily="34" charset="0"/>
                <a:ea typeface="Calibri" pitchFamily="34" charset="-122"/>
                <a:cs typeface="Calibri" pitchFamily="34" charset="-120"/>
              </a:rPr>
              <a:t>square accuracy</a:t>
            </a:r>
            <a:endParaRPr lang="en-US" sz="1400" dirty="0"/>
          </a:p>
        </p:txBody>
      </p:sp>
      <p:sp>
        <p:nvSpPr>
          <p:cNvPr id="13" name="Shape 10"/>
          <p:cNvSpPr/>
          <p:nvPr/>
        </p:nvSpPr>
        <p:spPr>
          <a:xfrm>
            <a:off x="3703320" y="3310128"/>
            <a:ext cx="4892040" cy="786384"/>
          </a:xfrm>
          <a:prstGeom prst="rect">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14" name="Text 11"/>
          <p:cNvSpPr/>
          <p:nvPr/>
        </p:nvSpPr>
        <p:spPr>
          <a:xfrm>
            <a:off x="3840480" y="3310128"/>
            <a:ext cx="1371600" cy="786384"/>
          </a:xfrm>
          <a:prstGeom prst="rect">
            <a:avLst/>
          </a:prstGeom>
          <a:noFill/>
          <a:ln/>
        </p:spPr>
        <p:txBody>
          <a:bodyPr wrap="square" lIns="0" tIns="0" rIns="0" bIns="0" rtlCol="0" anchor="ctr"/>
          <a:lstStyle/>
          <a:p>
            <a:pPr marL="0" indent="0">
              <a:buNone/>
            </a:pPr>
            <a:r>
              <a:rPr lang="en-US" sz="3000" b="1" dirty="0">
                <a:solidFill>
                  <a:srgbClr val="6B4F3A"/>
                </a:solidFill>
                <a:latin typeface="Georgia" pitchFamily="34" charset="0"/>
                <a:ea typeface="Georgia" pitchFamily="34" charset="-122"/>
                <a:cs typeface="Georgia" pitchFamily="34" charset="-120"/>
              </a:rPr>
              <a:t>0.80</a:t>
            </a:r>
            <a:endParaRPr lang="en-US" sz="3000" dirty="0"/>
          </a:p>
        </p:txBody>
      </p:sp>
      <p:sp>
        <p:nvSpPr>
          <p:cNvPr id="15" name="Text 12"/>
          <p:cNvSpPr/>
          <p:nvPr/>
        </p:nvSpPr>
        <p:spPr>
          <a:xfrm>
            <a:off x="5212080" y="3310128"/>
            <a:ext cx="3246120" cy="786384"/>
          </a:xfrm>
          <a:prstGeom prst="rect">
            <a:avLst/>
          </a:prstGeom>
          <a:noFill/>
          <a:ln/>
        </p:spPr>
        <p:txBody>
          <a:bodyPr wrap="square" lIns="0" tIns="0" rIns="0" bIns="0" rtlCol="0" anchor="ctr"/>
          <a:lstStyle/>
          <a:p>
            <a:pPr marL="0" indent="0">
              <a:buNone/>
            </a:pPr>
            <a:r>
              <a:rPr lang="en-US" sz="1400" dirty="0">
                <a:solidFill>
                  <a:srgbClr val="2A2622"/>
                </a:solidFill>
                <a:latin typeface="Calibri" pitchFamily="34" charset="0"/>
                <a:ea typeface="Calibri" pitchFamily="34" charset="-122"/>
                <a:cs typeface="Calibri" pitchFamily="34" charset="-120"/>
              </a:rPr>
              <a:t>piece-type accuracy</a:t>
            </a:r>
            <a:endParaRPr lang="en-US" sz="1400" dirty="0"/>
          </a:p>
        </p:txBody>
      </p:sp>
      <p:sp>
        <p:nvSpPr>
          <p:cNvPr id="16" name="Text 13"/>
          <p:cNvSpPr/>
          <p:nvPr/>
        </p:nvSpPr>
        <p:spPr>
          <a:xfrm>
            <a:off x="3703320" y="4251960"/>
            <a:ext cx="4892040" cy="640080"/>
          </a:xfrm>
          <a:prstGeom prst="rect">
            <a:avLst/>
          </a:prstGeom>
          <a:noFill/>
          <a:ln/>
        </p:spPr>
        <p:txBody>
          <a:bodyPr wrap="square" lIns="0" tIns="0" rIns="0" bIns="0" rtlCol="0" anchor="ctr"/>
          <a:lstStyle/>
          <a:p>
            <a:pPr marL="0" indent="0">
              <a:buNone/>
            </a:pPr>
            <a:r>
              <a:rPr lang="en-US" sz="1150" b="1" dirty="0">
                <a:solidFill>
                  <a:srgbClr val="6B4F3A"/>
                </a:solidFill>
                <a:latin typeface="Calibri" pitchFamily="34" charset="0"/>
                <a:ea typeface="Calibri" pitchFamily="34" charset="-122"/>
                <a:cs typeface="Calibri" pitchFamily="34" charset="-120"/>
              </a:rPr>
              <a:t>Selected by visual quality, not the top scalar. </a:t>
            </a:r>
            <a:r>
              <a:rPr lang="en-US" sz="1150" dirty="0">
                <a:solidFill>
                  <a:srgbClr val="2A2622"/>
                </a:solidFill>
                <a:latin typeface="Calibri" pitchFamily="34" charset="0"/>
                <a:ea typeface="Calibri" pitchFamily="34" charset="-122"/>
                <a:cs typeface="Calibri" pitchFamily="34" charset="-120"/>
              </a:rPr>
              <a:t>A merged blob can still be classified correctly - so realism was judged on visual grids + halo / double-head audits.</a:t>
            </a:r>
            <a:endParaRPr lang="en-US" sz="1150" dirty="0"/>
          </a:p>
        </p:txBody>
      </p:sp>
      <p:sp>
        <p:nvSpPr>
          <p:cNvPr id="17" name="Text 14"/>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8" name="Text 15"/>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06 · ABLATION</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Metrics alone mislead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40680" y="1554480"/>
          <a:ext cx="3200400" cy="1341120"/>
        </p:xfrm>
        <a:graphic>
          <a:graphicData uri="http://schemas.openxmlformats.org/drawingml/2006/table">
            <a:tbl>
              <a:tblPr/>
              <a:tblGrid>
                <a:gridCol w="1371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Variant</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6B4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Whole-board</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6B4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6B4F3A"/>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2A2622"/>
                          </a:solidFill>
                          <a:latin typeface="Calibri" pitchFamily="34" charset="0"/>
                          <a:ea typeface="Calibri" pitchFamily="34" charset="-122"/>
                          <a:cs typeface="Calibri" pitchFamily="34" charset="-120"/>
                        </a:rPr>
                        <a:t>silABC (final)</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tc>
                  <a:txBody>
                    <a:bodyPr/>
                    <a:lstStyle/>
                    <a:p>
                      <a:pPr marL="0" indent="0" algn="ctr">
                        <a:buNone/>
                      </a:pPr>
                      <a:r>
                        <a:rPr lang="en-US" sz="1100" dirty="0">
                          <a:solidFill>
                            <a:srgbClr val="2A2622"/>
                          </a:solidFill>
                          <a:latin typeface="Calibri" pitchFamily="34" charset="0"/>
                          <a:ea typeface="Calibri" pitchFamily="34" charset="-122"/>
                          <a:cs typeface="Calibri" pitchFamily="34" charset="-120"/>
                        </a:rPr>
                        <a:t>0.757</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tc>
                  <a:txBody>
                    <a:bodyPr/>
                    <a:lstStyle/>
                    <a:p>
                      <a:pPr marL="0" indent="0">
                        <a:buNone/>
                      </a:pPr>
                      <a:r>
                        <a:rPr lang="en-US" sz="1100" dirty="0">
                          <a:solidFill>
                            <a:srgbClr val="2A2622"/>
                          </a:solidFill>
                          <a:latin typeface="Calibri" pitchFamily="34" charset="0"/>
                          <a:ea typeface="Calibri" pitchFamily="34" charset="-122"/>
                          <a:cs typeface="Calibri" pitchFamily="34" charset="-120"/>
                        </a:rPr>
                        <a:t>realistic</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2A2622"/>
                          </a:solidFill>
                          <a:latin typeface="Calibri" pitchFamily="34" charset="0"/>
                          <a:ea typeface="Calibri" pitchFamily="34" charset="-122"/>
                          <a:cs typeface="Calibri" pitchFamily="34" charset="-120"/>
                        </a:rPr>
                        <a:t>geometry-lock</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tc>
                  <a:txBody>
                    <a:bodyPr/>
                    <a:lstStyle/>
                    <a:p>
                      <a:pPr marL="0" indent="0" algn="ctr">
                        <a:buNone/>
                      </a:pPr>
                      <a:r>
                        <a:rPr lang="en-US" sz="1100" b="1" dirty="0">
                          <a:solidFill>
                            <a:srgbClr val="9C5B3B"/>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tc>
                  <a:txBody>
                    <a:bodyPr/>
                    <a:lstStyle/>
                    <a:p>
                      <a:pPr marL="0" indent="0">
                        <a:buNone/>
                      </a:pPr>
                      <a:r>
                        <a:rPr lang="en-US" sz="1100" dirty="0">
                          <a:solidFill>
                            <a:srgbClr val="2A2622"/>
                          </a:solidFill>
                          <a:latin typeface="Calibri" pitchFamily="34" charset="0"/>
                          <a:ea typeface="Calibri" pitchFamily="34" charset="-122"/>
                          <a:cs typeface="Calibri" pitchFamily="34" charset="-120"/>
                        </a:rPr>
                        <a:t>washed / milky</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2A2622"/>
                          </a:solidFill>
                          <a:latin typeface="Calibri" pitchFamily="34" charset="0"/>
                          <a:ea typeface="Calibri" pitchFamily="34" charset="-122"/>
                          <a:cs typeface="Calibri" pitchFamily="34" charset="-120"/>
                        </a:rPr>
                        <a:t>parallax8</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tc>
                  <a:txBody>
                    <a:bodyPr/>
                    <a:lstStyle/>
                    <a:p>
                      <a:pPr marL="0" indent="0" algn="ctr">
                        <a:buNone/>
                      </a:pPr>
                      <a:r>
                        <a:rPr lang="en-US" sz="1100" dirty="0">
                          <a:solidFill>
                            <a:srgbClr val="9C5B3B"/>
                          </a:solidFill>
                          <a:latin typeface="Calibri" pitchFamily="34" charset="0"/>
                          <a:ea typeface="Calibri" pitchFamily="34" charset="-122"/>
                          <a:cs typeface="Calibri" pitchFamily="34" charset="-120"/>
                        </a:rPr>
                        <a:t>0.450</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tc>
                  <a:txBody>
                    <a:bodyPr/>
                    <a:lstStyle/>
                    <a:p>
                      <a:pPr marL="0" indent="0">
                        <a:buNone/>
                      </a:pPr>
                      <a:r>
                        <a:rPr lang="en-US" sz="1100" dirty="0">
                          <a:solidFill>
                            <a:srgbClr val="2A2622"/>
                          </a:solidFill>
                          <a:latin typeface="Calibri" pitchFamily="34" charset="0"/>
                          <a:ea typeface="Calibri" pitchFamily="34" charset="-122"/>
                          <a:cs typeface="Calibri" pitchFamily="34" charset="-120"/>
                        </a:rPr>
                        <a:t>worse</a:t>
                      </a:r>
                      <a:endParaRPr lang="en-US" sz="1100" dirty="0">
                        <a:latin typeface="Calibri" charset="0"/>
                        <a:ea typeface="Calibri" charset="0"/>
                        <a:cs typeface="Calibri" charset="0"/>
                      </a:endParaRPr>
                    </a:p>
                  </a:txBody>
                  <a:tcPr anchor="ctr">
                    <a:lnL w="6350" cap="flat" cmpd="sng" algn="ctr">
                      <a:solidFill>
                        <a:srgbClr val="E4D9C6"/>
                      </a:solidFill>
                      <a:prstDash val="solid"/>
                      <a:round/>
                      <a:headEnd type="none" w="med" len="med"/>
                      <a:tailEnd type="none" w="med" len="med"/>
                    </a:lnL>
                    <a:lnR w="6350" cap="flat" cmpd="sng" algn="ctr">
                      <a:solidFill>
                        <a:srgbClr val="E4D9C6"/>
                      </a:solidFill>
                      <a:prstDash val="solid"/>
                      <a:round/>
                      <a:headEnd type="none" w="med" len="med"/>
                      <a:tailEnd type="none" w="med" len="med"/>
                    </a:lnR>
                    <a:lnT w="6350" cap="flat" cmpd="sng" algn="ctr">
                      <a:solidFill>
                        <a:srgbClr val="E4D9C6"/>
                      </a:solidFill>
                      <a:prstDash val="solid"/>
                      <a:round/>
                      <a:headEnd type="none" w="med" len="med"/>
                      <a:tailEnd type="none" w="med" len="med"/>
                    </a:lnT>
                    <a:lnB w="6350" cap="flat" cmpd="sng" algn="ctr">
                      <a:solidFill>
                        <a:srgbClr val="E4D9C6"/>
                      </a:solidFill>
                      <a:prstDash val="solid"/>
                      <a:round/>
                      <a:headEnd type="none" w="med" len="med"/>
                      <a:tailEnd type="none" w="med" len="med"/>
                    </a:lnB>
                    <a:solidFill>
                      <a:srgbClr val="FBF8F2"/>
                    </a:solidFill>
                  </a:tcPr>
                </a:tc>
                <a:extLst>
                  <a:ext uri="{0D108BD9-81ED-4DB2-BD59-A6C34878D82A}">
                    <a16:rowId xmlns:a16="http://schemas.microsoft.com/office/drawing/2014/main" val="10003"/>
                  </a:ext>
                </a:extLst>
              </a:tr>
            </a:tbl>
          </a:graphicData>
        </a:graphic>
      </p:graphicFrame>
      <p:sp>
        <p:nvSpPr>
          <p:cNvPr id="7" name="Text 4"/>
          <p:cNvSpPr/>
          <p:nvPr/>
        </p:nvSpPr>
        <p:spPr>
          <a:xfrm>
            <a:off x="5440680" y="3063240"/>
            <a:ext cx="3200400" cy="1371600"/>
          </a:xfrm>
          <a:prstGeom prst="rect">
            <a:avLst/>
          </a:prstGeom>
          <a:noFill/>
          <a:ln/>
        </p:spPr>
        <p:txBody>
          <a:bodyPr wrap="square" lIns="0" tIns="0" rIns="0" bIns="0" rtlCol="0" anchor="ctr"/>
          <a:lstStyle/>
          <a:p>
            <a:pPr marL="0" indent="0">
              <a:buNone/>
            </a:pPr>
            <a:r>
              <a:rPr lang="en-US" sz="1250" b="1" dirty="0">
                <a:solidFill>
                  <a:srgbClr val="6B4F3A"/>
                </a:solidFill>
                <a:latin typeface="Calibri" pitchFamily="34" charset="0"/>
                <a:ea typeface="Calibri" pitchFamily="34" charset="-122"/>
                <a:cs typeface="Calibri" pitchFamily="34" charset="-120"/>
              </a:rPr>
              <a:t>Insight:  </a:t>
            </a:r>
            <a:r>
              <a:rPr lang="en-US" sz="1250" dirty="0">
                <a:solidFill>
                  <a:srgbClr val="2A2622"/>
                </a:solidFill>
                <a:latin typeface="Calibri" pitchFamily="34" charset="0"/>
                <a:ea typeface="Calibri" pitchFamily="34" charset="-122"/>
                <a:cs typeface="Calibri" pitchFamily="34" charset="-120"/>
              </a:rPr>
              <a:t>forcing exact geometry removes double-heads but destroys the photo-like style. Each component was kept only if it was beneficial AND necessary.</a:t>
            </a:r>
            <a:endParaRPr lang="en-US" sz="1250" dirty="0"/>
          </a:p>
        </p:txBody>
      </p:sp>
      <p:sp>
        <p:nvSpPr>
          <p:cNvPr id="9" name="Text 5"/>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0" name="Text 6"/>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13</a:t>
            </a:r>
            <a:endParaRPr lang="en-US" sz="900" dirty="0"/>
          </a:p>
        </p:txBody>
      </p:sp>
      <p:pic>
        <p:nvPicPr>
          <p:cNvPr id="11" name="Picture 10" descr="report_failure_geometry_lock.png"/>
          <p:cNvPicPr>
            <a:picLocks noChangeAspect="1"/>
          </p:cNvPicPr>
          <p:nvPr/>
        </p:nvPicPr>
        <p:blipFill>
          <a:blip r:embed="rId3"/>
          <a:stretch>
            <a:fillRect/>
          </a:stretch>
        </p:blipFill>
        <p:spPr>
          <a:xfrm>
            <a:off x="502920" y="1874519"/>
            <a:ext cx="4251960" cy="1639190"/>
          </a:xfrm>
          <a:prstGeom prst="rect">
            <a:avLst/>
          </a:prstGeom>
        </p:spPr>
      </p:pic>
      <p:sp>
        <p:nvSpPr>
          <p:cNvPr id="12" name="TextBox 11"/>
          <p:cNvSpPr txBox="1"/>
          <p:nvPr/>
        </p:nvSpPr>
        <p:spPr>
          <a:xfrm>
            <a:off x="502920" y="3611880"/>
            <a:ext cx="4251960" cy="548640"/>
          </a:xfrm>
          <a:prstGeom prst="rect">
            <a:avLst/>
          </a:prstGeom>
          <a:noFill/>
        </p:spPr>
        <p:txBody>
          <a:bodyPr wrap="square" lIns="0" tIns="0" rIns="0" bIns="0">
            <a:spAutoFit/>
          </a:bodyPr>
          <a:lstStyle/>
          <a:p>
            <a:pPr algn="ctr">
              <a:lnSpc>
                <a:spcPct val="112000"/>
              </a:lnSpc>
            </a:pPr>
            <a:r>
              <a:rPr sz="1100" b="0" i="1" kern="0">
                <a:solidFill>
                  <a:srgbClr val="8A7E6E"/>
                </a:solidFill>
                <a:latin typeface="Calibri"/>
              </a:rPr>
              <a:t>Geometry-lock: structure improves, but pieces turn </a:t>
            </a:r>
            <a:r>
              <a:rPr sz="1100" b="1" i="1" kern="0">
                <a:solidFill>
                  <a:srgbClr val="6B4F3A"/>
                </a:solidFill>
                <a:latin typeface="Calibri"/>
              </a:rPr>
              <a:t>milky / washed-out</a:t>
            </a:r>
            <a:r>
              <a:rPr sz="1100" b="0" i="1" kern="0">
                <a:solidFill>
                  <a:srgbClr val="8A7E6E"/>
                </a:solidFill>
                <a:latin typeface="Calibr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07 · WHAT WE LEARNED</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What we learned</a:t>
            </a:r>
            <a:endParaRPr lang="en-US" sz="3000" dirty="0"/>
          </a:p>
        </p:txBody>
      </p:sp>
      <p:sp>
        <p:nvSpPr>
          <p:cNvPr id="15" name="Text 13"/>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6" name="Text 14"/>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14</a:t>
            </a:r>
            <a:endParaRPr lang="en-US" sz="900" dirty="0"/>
          </a:p>
        </p:txBody>
      </p:sp>
      <p:sp>
        <p:nvSpPr>
          <p:cNvPr id="17" name="Rounded Rectangle 16"/>
          <p:cNvSpPr/>
          <p:nvPr/>
        </p:nvSpPr>
        <p:spPr>
          <a:xfrm>
            <a:off x="548640" y="1554480"/>
            <a:ext cx="3794760" cy="1280160"/>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1554480"/>
            <a:ext cx="3282696" cy="1280160"/>
          </a:xfrm>
          <a:prstGeom prst="rect">
            <a:avLst/>
          </a:prstGeom>
          <a:noFill/>
        </p:spPr>
        <p:txBody>
          <a:bodyPr wrap="square" lIns="0" tIns="0" rIns="0" bIns="0" anchor="ctr">
            <a:spAutoFit/>
          </a:bodyPr>
          <a:lstStyle/>
          <a:p>
            <a:pPr>
              <a:spcAft>
                <a:spcPts val="500"/>
              </a:spcAft>
            </a:pPr>
            <a:r>
              <a:rPr sz="1500" b="1" i="0" kern="0">
                <a:solidFill>
                  <a:srgbClr val="C2873B"/>
                </a:solidFill>
                <a:latin typeface="Georgia"/>
              </a:rPr>
              <a:t>1   </a:t>
            </a:r>
            <a:r>
              <a:rPr sz="1400" b="1" i="0" kern="0">
                <a:solidFill>
                  <a:srgbClr val="2A2622"/>
                </a:solidFill>
                <a:latin typeface="Georgia"/>
              </a:rPr>
              <a:t>Geometry beat every loss</a:t>
            </a:r>
          </a:p>
          <a:p>
            <a:pPr>
              <a:lnSpc>
                <a:spcPct val="116000"/>
              </a:lnSpc>
            </a:pPr>
            <a:r>
              <a:rPr sz="1050" b="0" i="0" kern="0">
                <a:solidFill>
                  <a:srgbClr val="8A7E6E"/>
                </a:solidFill>
                <a:latin typeface="Calibri"/>
              </a:rPr>
              <a:t>Aligning the synthetic camera to the real photos shrank the domain gap more than any loss change.</a:t>
            </a:r>
          </a:p>
        </p:txBody>
      </p:sp>
      <p:sp>
        <p:nvSpPr>
          <p:cNvPr id="19" name="Rounded Rectangle 18"/>
          <p:cNvSpPr/>
          <p:nvPr/>
        </p:nvSpPr>
        <p:spPr>
          <a:xfrm>
            <a:off x="4800600" y="1554480"/>
            <a:ext cx="3794760" cy="1280160"/>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56632" y="1554480"/>
            <a:ext cx="3282696" cy="1280160"/>
          </a:xfrm>
          <a:prstGeom prst="rect">
            <a:avLst/>
          </a:prstGeom>
          <a:noFill/>
        </p:spPr>
        <p:txBody>
          <a:bodyPr wrap="square" lIns="0" tIns="0" rIns="0" bIns="0" anchor="ctr">
            <a:spAutoFit/>
          </a:bodyPr>
          <a:lstStyle/>
          <a:p>
            <a:pPr>
              <a:spcAft>
                <a:spcPts val="500"/>
              </a:spcAft>
            </a:pPr>
            <a:r>
              <a:rPr sz="1500" b="1" i="0" kern="0">
                <a:solidFill>
                  <a:srgbClr val="C2873B"/>
                </a:solidFill>
                <a:latin typeface="Georgia"/>
              </a:rPr>
              <a:t>2   </a:t>
            </a:r>
            <a:r>
              <a:rPr sz="1400" b="1" i="0" kern="0">
                <a:solidFill>
                  <a:srgbClr val="2A2622"/>
                </a:solidFill>
                <a:latin typeface="Georgia"/>
              </a:rPr>
              <a:t>A high score is not a good image</a:t>
            </a:r>
          </a:p>
          <a:p>
            <a:pPr>
              <a:lnSpc>
                <a:spcPct val="116000"/>
              </a:lnSpc>
            </a:pPr>
            <a:r>
              <a:rPr sz="1050" b="0" i="0" kern="0">
                <a:solidFill>
                  <a:srgbClr val="8A7E6E"/>
                </a:solidFill>
                <a:latin typeface="Calibri"/>
              </a:rPr>
              <a:t>An independent classifier can rate a blurry blob as correct - so we judged realism by eye, not only by metrics.</a:t>
            </a:r>
          </a:p>
        </p:txBody>
      </p:sp>
      <p:sp>
        <p:nvSpPr>
          <p:cNvPr id="21" name="Rounded Rectangle 20"/>
          <p:cNvSpPr/>
          <p:nvPr/>
        </p:nvSpPr>
        <p:spPr>
          <a:xfrm>
            <a:off x="548640" y="2971800"/>
            <a:ext cx="3794760" cy="1280160"/>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2971800"/>
            <a:ext cx="3282696" cy="1280160"/>
          </a:xfrm>
          <a:prstGeom prst="rect">
            <a:avLst/>
          </a:prstGeom>
          <a:noFill/>
        </p:spPr>
        <p:txBody>
          <a:bodyPr wrap="square" lIns="0" tIns="0" rIns="0" bIns="0" anchor="ctr">
            <a:spAutoFit/>
          </a:bodyPr>
          <a:lstStyle/>
          <a:p>
            <a:pPr>
              <a:spcAft>
                <a:spcPts val="500"/>
              </a:spcAft>
            </a:pPr>
            <a:r>
              <a:rPr sz="1500" b="1" i="0" kern="0">
                <a:solidFill>
                  <a:srgbClr val="C2873B"/>
                </a:solidFill>
                <a:latin typeface="Georgia"/>
              </a:rPr>
              <a:t>3   </a:t>
            </a:r>
            <a:r>
              <a:rPr sz="1400" b="1" i="0" kern="0">
                <a:solidFill>
                  <a:srgbClr val="2A2622"/>
                </a:solidFill>
                <a:latin typeface="Georgia"/>
              </a:rPr>
              <a:t>Shape vs. style: a real trade-off</a:t>
            </a:r>
          </a:p>
          <a:p>
            <a:pPr>
              <a:lnSpc>
                <a:spcPct val="116000"/>
              </a:lnSpc>
            </a:pPr>
            <a:r>
              <a:rPr sz="1050" b="0" i="0" kern="0">
                <a:solidFill>
                  <a:srgbClr val="8A7E6E"/>
                </a:solidFill>
                <a:latin typeface="Calibri"/>
              </a:rPr>
              <a:t>Forcing exact piece geometry removes artifacts but makes pieces look milky; the two goals pull against each other.</a:t>
            </a:r>
          </a:p>
        </p:txBody>
      </p:sp>
      <p:sp>
        <p:nvSpPr>
          <p:cNvPr id="23" name="Rounded Rectangle 22"/>
          <p:cNvSpPr/>
          <p:nvPr/>
        </p:nvSpPr>
        <p:spPr>
          <a:xfrm>
            <a:off x="4800600" y="2971800"/>
            <a:ext cx="3794760" cy="1280160"/>
          </a:xfrm>
          <a:prstGeom prst="roundRect">
            <a:avLst>
              <a:gd name="adj" fmla="val 5517"/>
            </a:avLst>
          </a:prstGeom>
          <a:solidFill>
            <a:srgbClr val="FBF8F2"/>
          </a:solidFill>
          <a:ln w="12700">
            <a:solidFill>
              <a:srgbClr val="E4D9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56632" y="2971800"/>
            <a:ext cx="3282696" cy="1280160"/>
          </a:xfrm>
          <a:prstGeom prst="rect">
            <a:avLst/>
          </a:prstGeom>
          <a:noFill/>
        </p:spPr>
        <p:txBody>
          <a:bodyPr wrap="square" lIns="0" tIns="0" rIns="0" bIns="0" anchor="ctr">
            <a:spAutoFit/>
          </a:bodyPr>
          <a:lstStyle/>
          <a:p>
            <a:pPr>
              <a:spcAft>
                <a:spcPts val="500"/>
              </a:spcAft>
            </a:pPr>
            <a:r>
              <a:rPr sz="1500" b="1" i="0" kern="0">
                <a:solidFill>
                  <a:srgbClr val="C2873B"/>
                </a:solidFill>
                <a:latin typeface="Georgia"/>
              </a:rPr>
              <a:t>4   </a:t>
            </a:r>
            <a:r>
              <a:rPr sz="1400" b="1" i="0" kern="0">
                <a:solidFill>
                  <a:srgbClr val="2A2622"/>
                </a:solidFill>
                <a:latin typeface="Georgia"/>
              </a:rPr>
              <a:t>Exact state needs the right framing</a:t>
            </a:r>
          </a:p>
          <a:p>
            <a:pPr>
              <a:lnSpc>
                <a:spcPct val="116000"/>
              </a:lnSpc>
            </a:pPr>
            <a:r>
              <a:rPr sz="1050" b="0" i="0" kern="0">
                <a:solidFill>
                  <a:srgbClr val="8A7E6E"/>
                </a:solidFill>
                <a:latin typeface="Calibri"/>
              </a:rPr>
              <a:t>Paired, conditioned translation - not free generation - is what preserved the position.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4EFE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08 · HONEST RESULTS</a:t>
            </a:r>
            <a:endParaRPr lang="en-US" sz="1200" dirty="0"/>
          </a:p>
        </p:txBody>
      </p:sp>
      <p:sp>
        <p:nvSpPr>
          <p:cNvPr id="4" name="Text 2"/>
          <p:cNvSpPr/>
          <p:nvPr/>
        </p:nvSpPr>
        <p:spPr>
          <a:xfrm>
            <a:off x="548640" y="658368"/>
            <a:ext cx="8138160" cy="822960"/>
          </a:xfrm>
          <a:prstGeom prst="rect">
            <a:avLst/>
          </a:prstGeom>
          <a:noFill/>
          <a:ln/>
        </p:spPr>
        <p:txBody>
          <a:bodyPr wrap="square" lIns="0" tIns="0" rIns="0" bIns="0" rtlCol="0" anchor="ctr"/>
          <a:lstStyle/>
          <a:p>
            <a:pPr marL="0" indent="0">
              <a:buNone/>
            </a:pPr>
            <a:r>
              <a:rPr lang="en-US" sz="3000" b="1" dirty="0">
                <a:solidFill>
                  <a:srgbClr val="2A2622"/>
                </a:solidFill>
                <a:latin typeface="Georgia" pitchFamily="34" charset="0"/>
                <a:ea typeface="Georgia" pitchFamily="34" charset="-122"/>
                <a:cs typeface="Georgia" pitchFamily="34" charset="-120"/>
              </a:rPr>
              <a:t>What didn't work &amp; limitations</a:t>
            </a:r>
            <a:endParaRPr lang="en-US" sz="3000" dirty="0"/>
          </a:p>
        </p:txBody>
      </p:sp>
      <p:sp>
        <p:nvSpPr>
          <p:cNvPr id="5" name="Shape 3"/>
          <p:cNvSpPr/>
          <p:nvPr/>
        </p:nvSpPr>
        <p:spPr>
          <a:xfrm>
            <a:off x="566928" y="1554480"/>
            <a:ext cx="3931920" cy="2880360"/>
          </a:xfrm>
          <a:prstGeom prst="rect">
            <a:avLst/>
          </a:prstGeom>
          <a:solidFill>
            <a:srgbClr val="FBF8F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6" name="Text 4"/>
          <p:cNvSpPr/>
          <p:nvPr/>
        </p:nvSpPr>
        <p:spPr>
          <a:xfrm>
            <a:off x="777240" y="1691640"/>
            <a:ext cx="3566160" cy="320040"/>
          </a:xfrm>
          <a:prstGeom prst="rect">
            <a:avLst/>
          </a:prstGeom>
          <a:noFill/>
          <a:ln/>
        </p:spPr>
        <p:txBody>
          <a:bodyPr wrap="square" lIns="0" tIns="0" rIns="0" bIns="0" rtlCol="0" anchor="ctr"/>
          <a:lstStyle/>
          <a:p>
            <a:pPr marL="0" indent="0">
              <a:buNone/>
            </a:pPr>
            <a:r>
              <a:rPr lang="en-US" sz="1500" b="1" dirty="0">
                <a:solidFill>
                  <a:srgbClr val="9C5B3B"/>
                </a:solidFill>
                <a:latin typeface="Calibri" pitchFamily="34" charset="0"/>
                <a:ea typeface="Calibri" pitchFamily="34" charset="-122"/>
                <a:cs typeface="Calibri" pitchFamily="34" charset="-120"/>
              </a:rPr>
              <a:t>What didn't work</a:t>
            </a:r>
            <a:endParaRPr lang="en-US" sz="1500" dirty="0"/>
          </a:p>
        </p:txBody>
      </p:sp>
      <p:sp>
        <p:nvSpPr>
          <p:cNvPr id="7" name="Text 5"/>
          <p:cNvSpPr/>
          <p:nvPr/>
        </p:nvSpPr>
        <p:spPr>
          <a:xfrm>
            <a:off x="777240" y="2103120"/>
            <a:ext cx="352044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A2622"/>
                </a:solidFill>
                <a:latin typeface="Calibri" pitchFamily="34" charset="0"/>
                <a:ea typeface="Calibri" pitchFamily="34" charset="-122"/>
                <a:cs typeface="Calibri" pitchFamily="34" charset="-120"/>
              </a:rPr>
              <a:t>Unpaired CUT / CycleGAN - won't preserve exact state</a:t>
            </a:r>
            <a:endParaRPr lang="en-US" sz="1250" dirty="0"/>
          </a:p>
          <a:p>
            <a:pPr marL="342900" indent="-342900">
              <a:spcAft>
                <a:spcPts val="800"/>
              </a:spcAft>
              <a:buSzPct val="100000"/>
              <a:buChar char="•"/>
            </a:pPr>
            <a:r>
              <a:rPr lang="en-US" sz="1250" dirty="0">
                <a:solidFill>
                  <a:srgbClr val="2A2622"/>
                </a:solidFill>
                <a:latin typeface="Calibri" pitchFamily="34" charset="0"/>
                <a:ea typeface="Calibri" pitchFamily="34" charset="-122"/>
                <a:cs typeface="Calibri" pitchFamily="34" charset="-120"/>
              </a:rPr>
              <a:t>Naive parallax stretch - exactness 0.76 → 0.45</a:t>
            </a:r>
            <a:endParaRPr lang="en-US" sz="1250" dirty="0"/>
          </a:p>
          <a:p>
            <a:pPr marL="342900" indent="-342900">
              <a:spcAft>
                <a:spcPts val="800"/>
              </a:spcAft>
              <a:buSzPct val="100000"/>
              <a:buChar char="•"/>
            </a:pPr>
            <a:r>
              <a:rPr lang="en-US" sz="1250" dirty="0">
                <a:solidFill>
                  <a:srgbClr val="2A2622"/>
                </a:solidFill>
                <a:latin typeface="Calibri" pitchFamily="34" charset="0"/>
                <a:ea typeface="Calibri" pitchFamily="34" charset="-122"/>
                <a:cs typeface="Calibri" pitchFamily="34" charset="-120"/>
              </a:rPr>
              <a:t>Hard geometry-lock - pieces look milky / transparent</a:t>
            </a:r>
            <a:endParaRPr lang="en-US" sz="1250" dirty="0"/>
          </a:p>
          <a:p>
            <a:pPr marL="342900" indent="-342900">
              <a:spcAft>
                <a:spcPts val="800"/>
              </a:spcAft>
              <a:buSzPct val="100000"/>
              <a:buChar char="•"/>
            </a:pPr>
            <a:r>
              <a:rPr lang="en-US" sz="1250" dirty="0">
                <a:solidFill>
                  <a:srgbClr val="2A2622"/>
                </a:solidFill>
                <a:latin typeface="Calibri" pitchFamily="34" charset="0"/>
                <a:ea typeface="Calibri" pitchFamily="34" charset="-122"/>
                <a:cs typeface="Calibri" pitchFamily="34" charset="-120"/>
              </a:rPr>
              <a:t>SAM auto-masks - fail at the 40–60 px piece scale</a:t>
            </a:r>
            <a:endParaRPr lang="en-US" sz="1250" dirty="0"/>
          </a:p>
        </p:txBody>
      </p:sp>
      <p:sp>
        <p:nvSpPr>
          <p:cNvPr id="8" name="Shape 6"/>
          <p:cNvSpPr/>
          <p:nvPr/>
        </p:nvSpPr>
        <p:spPr>
          <a:xfrm>
            <a:off x="4690872" y="1554480"/>
            <a:ext cx="3886200" cy="2880360"/>
          </a:xfrm>
          <a:prstGeom prst="rect">
            <a:avLst/>
          </a:prstGeom>
          <a:solidFill>
            <a:srgbClr val="F3E7D2"/>
          </a:solidFill>
          <a:ln w="12700">
            <a:solidFill>
              <a:srgbClr val="E4D9C6"/>
            </a:solidFill>
            <a:prstDash val="solid"/>
          </a:ln>
          <a:effectLst>
            <a:outerShdw blurRad="88900" dist="38100" dir="8100000" algn="bl" rotWithShape="0">
              <a:srgbClr val="000000">
                <a:alpha val="16000"/>
              </a:srgbClr>
            </a:outerShdw>
          </a:effectLst>
        </p:spPr>
        <p:txBody>
          <a:bodyPr/>
          <a:lstStyle/>
          <a:p>
            <a:endParaRPr lang="en-IL"/>
          </a:p>
        </p:txBody>
      </p:sp>
      <p:sp>
        <p:nvSpPr>
          <p:cNvPr id="9" name="Text 7"/>
          <p:cNvSpPr/>
          <p:nvPr/>
        </p:nvSpPr>
        <p:spPr>
          <a:xfrm>
            <a:off x="4901184" y="1691640"/>
            <a:ext cx="3566160" cy="320040"/>
          </a:xfrm>
          <a:prstGeom prst="rect">
            <a:avLst/>
          </a:prstGeom>
          <a:noFill/>
          <a:ln/>
        </p:spPr>
        <p:txBody>
          <a:bodyPr wrap="square" lIns="0" tIns="0" rIns="0" bIns="0" rtlCol="0" anchor="ctr"/>
          <a:lstStyle/>
          <a:p>
            <a:pPr marL="0" indent="0">
              <a:buNone/>
            </a:pPr>
            <a:r>
              <a:rPr lang="en-US" sz="1500" b="1" dirty="0">
                <a:solidFill>
                  <a:srgbClr val="6B4F3A"/>
                </a:solidFill>
                <a:latin typeface="Calibri" pitchFamily="34" charset="0"/>
                <a:ea typeface="Calibri" pitchFamily="34" charset="-122"/>
                <a:cs typeface="Calibri" pitchFamily="34" charset="-120"/>
              </a:rPr>
              <a:t>Main limitation</a:t>
            </a:r>
            <a:endParaRPr lang="en-US" sz="1500" dirty="0"/>
          </a:p>
        </p:txBody>
      </p:sp>
      <p:sp>
        <p:nvSpPr>
          <p:cNvPr id="10" name="Text 8"/>
          <p:cNvSpPr/>
          <p:nvPr/>
        </p:nvSpPr>
        <p:spPr>
          <a:xfrm>
            <a:off x="4901184" y="2103120"/>
            <a:ext cx="3474720" cy="2194560"/>
          </a:xfrm>
          <a:prstGeom prst="rect">
            <a:avLst/>
          </a:prstGeom>
          <a:noFill/>
          <a:ln/>
        </p:spPr>
        <p:txBody>
          <a:bodyPr wrap="square" lIns="0" tIns="0" rIns="0" bIns="0" rtlCol="0" anchor="ctr"/>
          <a:lstStyle/>
          <a:p>
            <a:pPr marL="0" indent="0">
              <a:spcAft>
                <a:spcPts val="800"/>
              </a:spcAft>
              <a:buNone/>
            </a:pPr>
            <a:r>
              <a:rPr lang="en-US" sz="1250" dirty="0">
                <a:solidFill>
                  <a:srgbClr val="2A2622"/>
                </a:solidFill>
                <a:latin typeface="Calibri" pitchFamily="34" charset="0"/>
                <a:ea typeface="Calibri" pitchFamily="34" charset="-122"/>
                <a:cs typeface="Calibri" pitchFamily="34" charset="-120"/>
              </a:rPr>
              <a:t>Real targets are homography-rectified photos of a 3D scene.</a:t>
            </a:r>
            <a:endParaRPr lang="en-US" sz="1250" dirty="0"/>
          </a:p>
          <a:p>
            <a:pPr marL="0" indent="0">
              <a:spcAft>
                <a:spcPts val="800"/>
              </a:spcAft>
              <a:buNone/>
            </a:pPr>
            <a:r>
              <a:rPr lang="en-US" sz="1250" dirty="0">
                <a:solidFill>
                  <a:srgbClr val="2A2622"/>
                </a:solidFill>
                <a:latin typeface="Calibri" pitchFamily="34" charset="0"/>
                <a:ea typeface="Calibri" pitchFamily="34" charset="-122"/>
                <a:cs typeface="Calibri" pitchFamily="34" charset="-120"/>
              </a:rPr>
              <a:t>The board plane aligns, but the elevated piece heads do not - so synthetic and real shapes are slightly incompatible.</a:t>
            </a:r>
            <a:endParaRPr lang="en-US" sz="1250" dirty="0"/>
          </a:p>
          <a:p>
            <a:pPr marL="0" indent="0">
              <a:spcAft>
                <a:spcPts val="800"/>
              </a:spcAft>
              <a:buNone/>
            </a:pPr>
            <a:r>
              <a:rPr lang="en-US" sz="1250" dirty="0">
                <a:solidFill>
                  <a:srgbClr val="2A2622"/>
                </a:solidFill>
                <a:latin typeface="Calibri" pitchFamily="34" charset="0"/>
                <a:ea typeface="Calibri" pitchFamily="34" charset="-122"/>
                <a:cs typeface="Calibri" pitchFamily="34" charset="-120"/>
              </a:rPr>
              <a:t>Result: blob-like pawns, weak separation between neighbours, occasional phantom texture.</a:t>
            </a:r>
            <a:endParaRPr lang="en-US" sz="1250" dirty="0"/>
          </a:p>
        </p:txBody>
      </p:sp>
      <p:sp>
        <p:nvSpPr>
          <p:cNvPr id="11" name="Text 9"/>
          <p:cNvSpPr/>
          <p:nvPr/>
        </p:nvSpPr>
        <p:spPr>
          <a:xfrm>
            <a:off x="548640" y="4773168"/>
            <a:ext cx="5486400" cy="274320"/>
          </a:xfrm>
          <a:prstGeom prst="rect">
            <a:avLst/>
          </a:prstGeom>
          <a:noFill/>
          <a:ln/>
        </p:spPr>
        <p:txBody>
          <a:bodyPr wrap="square" lIns="0" tIns="0" rIns="0" bIns="0" rtlCol="0" anchor="ctr"/>
          <a:lstStyle/>
          <a:p>
            <a:pPr marL="0" indent="0">
              <a:buNone/>
            </a:pPr>
            <a:r>
              <a:rPr lang="en-US" sz="900" dirty="0">
                <a:solidFill>
                  <a:srgbClr val="8A7E6E"/>
                </a:solidFill>
                <a:latin typeface="Calibri" pitchFamily="34" charset="0"/>
                <a:ea typeface="Calibri" pitchFamily="34" charset="-122"/>
                <a:cs typeface="Calibri" pitchFamily="34" charset="-120"/>
              </a:rPr>
              <a:t>Project 3 · Chessboard Generation from FEN</a:t>
            </a:r>
            <a:endParaRPr lang="en-US" sz="900" dirty="0"/>
          </a:p>
        </p:txBody>
      </p:sp>
      <p:sp>
        <p:nvSpPr>
          <p:cNvPr id="12" name="Text 10"/>
          <p:cNvSpPr/>
          <p:nvPr/>
        </p:nvSpPr>
        <p:spPr>
          <a:xfrm>
            <a:off x="8321040" y="4773168"/>
            <a:ext cx="457200" cy="274320"/>
          </a:xfrm>
          <a:prstGeom prst="rect">
            <a:avLst/>
          </a:prstGeom>
          <a:noFill/>
          <a:ln/>
        </p:spPr>
        <p:txBody>
          <a:bodyPr wrap="square" lIns="0" tIns="0" rIns="0" bIns="0" rtlCol="0" anchor="ctr"/>
          <a:lstStyle/>
          <a:p>
            <a:pPr marL="0" indent="0" algn="r">
              <a:buNone/>
            </a:pPr>
            <a:r>
              <a:rPr lang="en-US" sz="900" dirty="0">
                <a:solidFill>
                  <a:srgbClr val="8A7E6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23201C"/>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C2873B"/>
          </a:solidFill>
          <a:ln/>
        </p:spPr>
        <p:txBody>
          <a:bodyPr/>
          <a:lstStyle/>
          <a:p>
            <a:endParaRPr lang="en-IL"/>
          </a:p>
        </p:txBody>
      </p:sp>
      <p:sp>
        <p:nvSpPr>
          <p:cNvPr id="3" name="Text 1"/>
          <p:cNvSpPr/>
          <p:nvPr/>
        </p:nvSpPr>
        <p:spPr>
          <a:xfrm>
            <a:off x="548640" y="640080"/>
            <a:ext cx="5486400" cy="274320"/>
          </a:xfrm>
          <a:prstGeom prst="rect">
            <a:avLst/>
          </a:prstGeom>
          <a:noFill/>
          <a:ln/>
        </p:spPr>
        <p:txBody>
          <a:bodyPr wrap="square" lIns="0" tIns="0" rIns="0" bIns="0" rtlCol="0" anchor="ctr"/>
          <a:lstStyle/>
          <a:p>
            <a:pPr marL="0" indent="0">
              <a:buNone/>
            </a:pPr>
            <a:r>
              <a:rPr lang="en-US" sz="1200" b="1" kern="0" spc="300" dirty="0">
                <a:solidFill>
                  <a:srgbClr val="C2873B"/>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66928" y="1325880"/>
            <a:ext cx="7955280" cy="2194560"/>
          </a:xfrm>
          <a:prstGeom prst="rect">
            <a:avLst/>
          </a:prstGeom>
          <a:noFill/>
          <a:ln/>
        </p:spPr>
        <p:txBody>
          <a:bodyPr wrap="square" lIns="0" tIns="0" rIns="0" bIns="0" rtlCol="0" anchor="ctr"/>
          <a:lstStyle/>
          <a:p>
            <a:pPr marL="342900" indent="-342900">
              <a:lnSpc>
                <a:spcPct val="102000"/>
              </a:lnSpc>
              <a:spcAft>
                <a:spcPts val="1200"/>
              </a:spcAft>
              <a:buSzPct val="100000"/>
              <a:buChar char="•"/>
            </a:pPr>
            <a:r>
              <a:rPr lang="en-US" sz="1650" dirty="0">
                <a:solidFill>
                  <a:srgbClr val="F4EFE6"/>
                </a:solidFill>
                <a:latin typeface="Calibri" pitchFamily="34" charset="0"/>
                <a:ea typeface="Calibri" pitchFamily="34" charset="-122"/>
                <a:cs typeface="Calibri" pitchFamily="34" charset="-120"/>
              </a:rPr>
              <a:t>Paired pix2pixHD with FEN + silhouette + depth + edge conditioning.</a:t>
            </a:r>
            <a:endParaRPr lang="en-US" sz="1650" dirty="0"/>
          </a:p>
          <a:p>
            <a:pPr marL="342900" indent="-342900">
              <a:lnSpc>
                <a:spcPct val="102000"/>
              </a:lnSpc>
              <a:spcAft>
                <a:spcPts val="1200"/>
              </a:spcAft>
              <a:buSzPct val="100000"/>
              <a:buChar char="•"/>
            </a:pPr>
            <a:r>
              <a:rPr lang="en-US" sz="1650" dirty="0">
                <a:solidFill>
                  <a:srgbClr val="F4EFE6"/>
                </a:solidFill>
                <a:latin typeface="Calibri" pitchFamily="34" charset="0"/>
                <a:ea typeface="Calibri" pitchFamily="34" charset="-122"/>
                <a:cs typeface="Calibri" pitchFamily="34" charset="-120"/>
              </a:rPr>
              <a:t>bright_silABC gives the best realism / state-preservation trade-off.</a:t>
            </a:r>
            <a:endParaRPr lang="en-US" sz="1650" dirty="0"/>
          </a:p>
          <a:p>
            <a:pPr marL="342900" indent="-342900">
              <a:lnSpc>
                <a:spcPct val="102000"/>
              </a:lnSpc>
              <a:spcAft>
                <a:spcPts val="1200"/>
              </a:spcAft>
              <a:buSzPct val="100000"/>
              <a:buChar char="•"/>
            </a:pPr>
            <a:r>
              <a:rPr lang="en-US" sz="1650" dirty="0">
                <a:solidFill>
                  <a:srgbClr val="F4EFE6"/>
                </a:solidFill>
                <a:latin typeface="Calibri" pitchFamily="34" charset="0"/>
                <a:ea typeface="Calibri" pitchFamily="34" charset="-122"/>
                <a:cs typeface="Calibri" pitchFamily="34" charset="-120"/>
              </a:rPr>
              <a:t>Honest negative result: clean piece topology vs. photographic style is a persistent trade-off under low-res automatic supervision.</a:t>
            </a:r>
            <a:endParaRPr lang="en-US" sz="1650" dirty="0"/>
          </a:p>
        </p:txBody>
      </p:sp>
      <p:sp>
        <p:nvSpPr>
          <p:cNvPr id="5" name="Text 3"/>
          <p:cNvSpPr/>
          <p:nvPr/>
        </p:nvSpPr>
        <p:spPr>
          <a:xfrm>
            <a:off x="566928" y="3977640"/>
            <a:ext cx="7955280" cy="548640"/>
          </a:xfrm>
          <a:prstGeom prst="rect">
            <a:avLst/>
          </a:prstGeom>
          <a:noFill/>
          <a:ln/>
        </p:spPr>
        <p:txBody>
          <a:bodyPr wrap="square" lIns="0" tIns="0" rIns="0" bIns="0" rtlCol="0" anchor="ctr"/>
          <a:lstStyle/>
          <a:p>
            <a:pPr marL="0" indent="0">
              <a:buNone/>
            </a:pPr>
            <a:r>
              <a:rPr lang="en-US" sz="2200" b="1" i="1" dirty="0">
                <a:solidFill>
                  <a:srgbClr val="C2873B"/>
                </a:solidFill>
                <a:latin typeface="Georgia" pitchFamily="34" charset="0"/>
                <a:ea typeface="Georgia" pitchFamily="34" charset="-122"/>
                <a:cs typeface="Georgia"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4367</Words>
  <Application>Microsoft Macintosh PowerPoint</Application>
  <PresentationFormat>On-screen Show (16:9)</PresentationFormat>
  <Paragraphs>314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 — Synthetic-to-Real Chessboard Generation from FEN</dc:title>
  <dc:subject>PptxGenJS Presentation</dc:subject>
  <dc:creator>Tal Podgor, Ilay Vanunu, Ran Packler</dc:creator>
  <cp:lastModifiedBy>Ilay Vanunu</cp:lastModifiedBy>
  <cp:revision>4</cp:revision>
  <dcterms:created xsi:type="dcterms:W3CDTF">2026-06-20T16:48:44Z</dcterms:created>
  <dcterms:modified xsi:type="dcterms:W3CDTF">2026-06-23T06:45:19Z</dcterms:modified>
</cp:coreProperties>
</file>